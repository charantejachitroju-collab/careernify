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My project is CareerNify, a career guidance and placement platform for students. It brings together career exploration, skill tracking, learning, interview practice and job discovery. I have left the personal academic details as placeholders so I can fill in my name, roll number, department, college and academic year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motive is to reduce fragmentation during career preparation. CareerNify links role discovery with skills, learning resources, practice and opportunity listings. It is designed for students and also includes administrator pages. This describes the project goal, not a measured claim about employment outcomes.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contrasts fragmented preparation with the project’s proposed connected workspace. The objectives match pages present in the source: career intelligence, skill analysis, learning paths, mock interviews, assessments, jobs and placement drives. This is a design comparison, not a measured comparison study.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interface uses HTML, CSS and plain JavaScript modules. Supabase is used by the code for authentication and data services; SQL migrations define the schema and row-level security. Visual Studio Code is the development editor, and I used Microsoft Edge to run and capture pages. Git or GitHub is not claimed because the supplied folder is not a Git repository.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user interacts with an HTML page styled by CSS. JavaScript handles the action and, where needed, sends a request through the Supabase client. Auth requests go to Supabase Auth; data operations use the database API; resume files use Storage in the implemented flow. Supabase returns a response that client code uses to update the page. These integrations exist in source, but I did not run live requests against a verified project account for this review.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modules visible in the project pages and navigation. The frontend is split into HTML pages, shared CSS, and JavaScript modules. Supabase client code handles authentication and data actions where implemented. Resume analysis extracts text in the browser, provides keyword-based guidance and includes code for private storage. It is guidance, not a guarantee of career fit or hiring.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actual screenshots captured from the running local site. The sign-in view shows the welcome panel, email and password inputs, sign-in button and account links. Career Intelligence visibly presents a match score, skill-gap count, role recommendation, and career-match cards. Skill Analysis presents a current score, skill-gap count and progress values. Career and skill figures are static example UI values, not measured results. Using the sign-in form requires a configured live Supabase account.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checked local home, career, skill, learning, mock-interview and admin routes; all returned HTTP 200. I also captured actual browser views. This confirms pages are served, not that every button or backend workflow works. I did not authenticate with a test account or verify live Supabase responses, so that test is marked not tested. Some screens contain static sample data, and no automated suite or accessibility metrics are claimed.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CareerNify provides a connected set of student career and placement-preparation pages using HTML, CSS, JavaScript and Supabase services. The local interface is available; live workflows and data still need end-to-end verification. Future work is to complete backend setup, test authentication and data flows, and evaluate usability and accessibility with students. Thank you. I am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1B35"/>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58952" y="585216"/>
            <a:ext cx="4572000" cy="219456"/>
          </a:xfrm>
          <a:prstGeom prst="rect">
            <a:avLst/>
          </a:prstGeom>
          <a:noFill/>
        </p:spPr>
        <p:txBody>
          <a:bodyPr wrap="square" lIns="9144" rIns="9144" tIns="9144" bIns="9144" anchor="t">
            <a:spAutoFit/>
          </a:bodyPr>
          <a:lstStyle/>
          <a:p>
            <a:pPr algn="l">
              <a:spcAft>
                <a:spcPts val="0"/>
              </a:spcAft>
            </a:pPr>
            <a:r>
              <a:rPr sz="1000" b="1">
                <a:solidFill>
                  <a:srgbClr val="26C6B2"/>
                </a:solidFill>
                <a:latin typeface="Aptos"/>
              </a:rPr>
              <a:t>ACADEMIC PROJECT PRESENTATION</a:t>
            </a:r>
          </a:p>
        </p:txBody>
      </p:sp>
      <p:sp>
        <p:nvSpPr>
          <p:cNvPr id="4" name="TextBox 3"/>
          <p:cNvSpPr txBox="1"/>
          <p:nvPr/>
        </p:nvSpPr>
        <p:spPr>
          <a:xfrm>
            <a:off x="758952" y="1097280"/>
            <a:ext cx="6537960" cy="749808"/>
          </a:xfrm>
          <a:prstGeom prst="rect">
            <a:avLst/>
          </a:prstGeom>
          <a:noFill/>
        </p:spPr>
        <p:txBody>
          <a:bodyPr wrap="square" lIns="9144" rIns="9144" tIns="9144" bIns="9144" anchor="t">
            <a:spAutoFit/>
          </a:bodyPr>
          <a:lstStyle/>
          <a:p>
            <a:pPr algn="l">
              <a:spcAft>
                <a:spcPts val="0"/>
              </a:spcAft>
            </a:pPr>
            <a:r>
              <a:rPr sz="4200" b="1">
                <a:solidFill>
                  <a:srgbClr val="FFFFFF"/>
                </a:solidFill>
                <a:latin typeface="Aptos"/>
              </a:rPr>
              <a:t>CareerNify</a:t>
            </a:r>
          </a:p>
        </p:txBody>
      </p:sp>
      <p:sp>
        <p:nvSpPr>
          <p:cNvPr id="5" name="TextBox 4"/>
          <p:cNvSpPr txBox="1"/>
          <p:nvPr/>
        </p:nvSpPr>
        <p:spPr>
          <a:xfrm>
            <a:off x="795528" y="1920240"/>
            <a:ext cx="6583680" cy="438912"/>
          </a:xfrm>
          <a:prstGeom prst="rect">
            <a:avLst/>
          </a:prstGeom>
          <a:noFill/>
        </p:spPr>
        <p:txBody>
          <a:bodyPr wrap="square" lIns="9144" rIns="9144" tIns="9144" bIns="9144" anchor="t">
            <a:spAutoFit/>
          </a:bodyPr>
          <a:lstStyle/>
          <a:p>
            <a:pPr algn="l">
              <a:spcAft>
                <a:spcPts val="0"/>
              </a:spcAft>
            </a:pPr>
            <a:r>
              <a:rPr sz="2000" b="1">
                <a:solidFill>
                  <a:srgbClr val="DCE5F2"/>
                </a:solidFill>
                <a:latin typeface="Aptos"/>
              </a:rPr>
              <a:t>Career Guidance &amp; Placement Platform</a:t>
            </a:r>
          </a:p>
        </p:txBody>
      </p:sp>
      <p:sp>
        <p:nvSpPr>
          <p:cNvPr id="6" name="TextBox 5"/>
          <p:cNvSpPr txBox="1"/>
          <p:nvPr/>
        </p:nvSpPr>
        <p:spPr>
          <a:xfrm>
            <a:off x="804672" y="2578608"/>
            <a:ext cx="6720840" cy="411480"/>
          </a:xfrm>
          <a:prstGeom prst="rect">
            <a:avLst/>
          </a:prstGeom>
          <a:noFill/>
        </p:spPr>
        <p:txBody>
          <a:bodyPr wrap="square" lIns="9144" rIns="9144" tIns="9144" bIns="9144" anchor="t">
            <a:spAutoFit/>
          </a:bodyPr>
          <a:lstStyle/>
          <a:p>
            <a:pPr algn="l">
              <a:spcAft>
                <a:spcPts val="0"/>
              </a:spcAft>
            </a:pPr>
            <a:r>
              <a:rPr sz="1400" b="0">
                <a:solidFill>
                  <a:srgbClr val="BFCBE0"/>
                </a:solidFill>
                <a:latin typeface="Aptos"/>
              </a:rPr>
              <a:t>Discover your direction. Build skills. Prepare for opportunity.</a:t>
            </a:r>
          </a:p>
        </p:txBody>
      </p:sp>
      <p:sp>
        <p:nvSpPr>
          <p:cNvPr id="7" name="Rounded Rectangle 6"/>
          <p:cNvSpPr/>
          <p:nvPr/>
        </p:nvSpPr>
        <p:spPr>
          <a:xfrm>
            <a:off x="8065008" y="914400"/>
            <a:ext cx="3154680" cy="3886200"/>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75904" y="1207008"/>
            <a:ext cx="2523744" cy="256032"/>
          </a:xfrm>
          <a:prstGeom prst="rect">
            <a:avLst/>
          </a:prstGeom>
          <a:noFill/>
        </p:spPr>
        <p:txBody>
          <a:bodyPr wrap="square" lIns="9144" rIns="9144" tIns="9144" bIns="9144" anchor="t">
            <a:spAutoFit/>
          </a:bodyPr>
          <a:lstStyle/>
          <a:p>
            <a:pPr algn="ctr">
              <a:spcAft>
                <a:spcPts val="0"/>
              </a:spcAft>
            </a:pPr>
            <a:r>
              <a:rPr sz="1000" b="1">
                <a:solidFill>
                  <a:srgbClr val="BFCBE0"/>
                </a:solidFill>
                <a:latin typeface="Aptos"/>
              </a:rPr>
              <a:t>STUDENT JOURNEY</a:t>
            </a:r>
          </a:p>
        </p:txBody>
      </p:sp>
      <p:sp>
        <p:nvSpPr>
          <p:cNvPr id="9" name="Oval 8"/>
          <p:cNvSpPr/>
          <p:nvPr/>
        </p:nvSpPr>
        <p:spPr>
          <a:xfrm>
            <a:off x="8458200" y="1865376"/>
            <a:ext cx="566928" cy="566928"/>
          </a:xfrm>
          <a:prstGeom prst="ellipse">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58200" y="1865376"/>
            <a:ext cx="566928" cy="566928"/>
          </a:xfrm>
          <a:prstGeom prst="rect">
            <a:avLst/>
          </a:prstGeom>
          <a:noFill/>
        </p:spPr>
        <p:txBody>
          <a:bodyPr wrap="square" lIns="9144" rIns="9144" tIns="9144" bIns="9144" anchor="ctr">
            <a:spAutoFit/>
          </a:bodyPr>
          <a:lstStyle/>
          <a:p>
            <a:pPr algn="ctr">
              <a:spcAft>
                <a:spcPts val="0"/>
              </a:spcAft>
            </a:pPr>
            <a:r>
              <a:rPr sz="1100" b="1">
                <a:solidFill>
                  <a:srgbClr val="101B35"/>
                </a:solidFill>
                <a:latin typeface="Aptos"/>
              </a:rPr>
              <a:t>01</a:t>
            </a:r>
          </a:p>
        </p:txBody>
      </p:sp>
      <p:sp>
        <p:nvSpPr>
          <p:cNvPr id="11" name="TextBox 10"/>
          <p:cNvSpPr txBox="1"/>
          <p:nvPr/>
        </p:nvSpPr>
        <p:spPr>
          <a:xfrm>
            <a:off x="8293608" y="2487168"/>
            <a:ext cx="914400" cy="182880"/>
          </a:xfrm>
          <a:prstGeom prst="rect">
            <a:avLst/>
          </a:prstGeom>
          <a:noFill/>
        </p:spPr>
        <p:txBody>
          <a:bodyPr wrap="square" lIns="9144" rIns="9144" tIns="9144" bIns="9144" anchor="t">
            <a:spAutoFit/>
          </a:bodyPr>
          <a:lstStyle/>
          <a:p>
            <a:pPr algn="ctr">
              <a:spcAft>
                <a:spcPts val="0"/>
              </a:spcAft>
            </a:pPr>
            <a:r>
              <a:rPr sz="800" b="1">
                <a:solidFill>
                  <a:srgbClr val="DCE5F2"/>
                </a:solidFill>
                <a:latin typeface="Aptos"/>
              </a:rPr>
              <a:t>EXPLORE</a:t>
            </a:r>
          </a:p>
        </p:txBody>
      </p:sp>
      <p:sp>
        <p:nvSpPr>
          <p:cNvPr id="12" name="Oval 11"/>
          <p:cNvSpPr/>
          <p:nvPr/>
        </p:nvSpPr>
        <p:spPr>
          <a:xfrm>
            <a:off x="9848088" y="2651760"/>
            <a:ext cx="566928" cy="566928"/>
          </a:xfrm>
          <a:prstGeom prst="ellipse">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848088" y="2651760"/>
            <a:ext cx="566928" cy="566928"/>
          </a:xfrm>
          <a:prstGeom prst="rect">
            <a:avLst/>
          </a:prstGeom>
          <a:noFill/>
        </p:spPr>
        <p:txBody>
          <a:bodyPr wrap="square" lIns="9144" rIns="9144" tIns="9144" bIns="9144" anchor="ctr">
            <a:spAutoFit/>
          </a:bodyPr>
          <a:lstStyle/>
          <a:p>
            <a:pPr algn="ctr">
              <a:spcAft>
                <a:spcPts val="0"/>
              </a:spcAft>
            </a:pPr>
            <a:r>
              <a:rPr sz="1100" b="1">
                <a:solidFill>
                  <a:srgbClr val="101B35"/>
                </a:solidFill>
                <a:latin typeface="Aptos"/>
              </a:rPr>
              <a:t>02</a:t>
            </a:r>
          </a:p>
        </p:txBody>
      </p:sp>
      <p:sp>
        <p:nvSpPr>
          <p:cNvPr id="14" name="TextBox 13"/>
          <p:cNvSpPr txBox="1"/>
          <p:nvPr/>
        </p:nvSpPr>
        <p:spPr>
          <a:xfrm>
            <a:off x="9683496" y="3273552"/>
            <a:ext cx="914400" cy="182880"/>
          </a:xfrm>
          <a:prstGeom prst="rect">
            <a:avLst/>
          </a:prstGeom>
          <a:noFill/>
        </p:spPr>
        <p:txBody>
          <a:bodyPr wrap="square" lIns="9144" rIns="9144" tIns="9144" bIns="9144" anchor="t">
            <a:spAutoFit/>
          </a:bodyPr>
          <a:lstStyle/>
          <a:p>
            <a:pPr algn="ctr">
              <a:spcAft>
                <a:spcPts val="0"/>
              </a:spcAft>
            </a:pPr>
            <a:r>
              <a:rPr sz="800" b="1">
                <a:solidFill>
                  <a:srgbClr val="DCE5F2"/>
                </a:solidFill>
                <a:latin typeface="Aptos"/>
              </a:rPr>
              <a:t>DEVELOP</a:t>
            </a:r>
          </a:p>
        </p:txBody>
      </p:sp>
      <p:sp>
        <p:nvSpPr>
          <p:cNvPr id="15" name="Oval 14"/>
          <p:cNvSpPr/>
          <p:nvPr/>
        </p:nvSpPr>
        <p:spPr>
          <a:xfrm>
            <a:off x="8458200" y="3456432"/>
            <a:ext cx="566928" cy="566928"/>
          </a:xfrm>
          <a:prstGeom prst="ellipse">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3456432"/>
            <a:ext cx="566928" cy="566928"/>
          </a:xfrm>
          <a:prstGeom prst="rect">
            <a:avLst/>
          </a:prstGeom>
          <a:noFill/>
        </p:spPr>
        <p:txBody>
          <a:bodyPr wrap="square" lIns="9144" rIns="9144" tIns="9144" bIns="9144" anchor="ctr">
            <a:spAutoFit/>
          </a:bodyPr>
          <a:lstStyle/>
          <a:p>
            <a:pPr algn="ctr">
              <a:spcAft>
                <a:spcPts val="0"/>
              </a:spcAft>
            </a:pPr>
            <a:r>
              <a:rPr sz="1100" b="1">
                <a:solidFill>
                  <a:srgbClr val="101B35"/>
                </a:solidFill>
                <a:latin typeface="Aptos"/>
              </a:rPr>
              <a:t>03</a:t>
            </a:r>
          </a:p>
        </p:txBody>
      </p:sp>
      <p:sp>
        <p:nvSpPr>
          <p:cNvPr id="17" name="TextBox 16"/>
          <p:cNvSpPr txBox="1"/>
          <p:nvPr/>
        </p:nvSpPr>
        <p:spPr>
          <a:xfrm>
            <a:off x="8293608" y="4078224"/>
            <a:ext cx="914400" cy="182880"/>
          </a:xfrm>
          <a:prstGeom prst="rect">
            <a:avLst/>
          </a:prstGeom>
          <a:noFill/>
        </p:spPr>
        <p:txBody>
          <a:bodyPr wrap="square" lIns="9144" rIns="9144" tIns="9144" bIns="9144" anchor="t">
            <a:spAutoFit/>
          </a:bodyPr>
          <a:lstStyle/>
          <a:p>
            <a:pPr algn="ctr">
              <a:spcAft>
                <a:spcPts val="0"/>
              </a:spcAft>
            </a:pPr>
            <a:r>
              <a:rPr sz="800" b="1">
                <a:solidFill>
                  <a:srgbClr val="DCE5F2"/>
                </a:solidFill>
                <a:latin typeface="Aptos"/>
              </a:rPr>
              <a:t>PREPARE</a:t>
            </a:r>
          </a:p>
        </p:txBody>
      </p:sp>
      <p:cxnSp>
        <p:nvCxnSpPr>
          <p:cNvPr id="18" name="Connector 17"/>
          <p:cNvCxnSpPr/>
          <p:nvPr/>
        </p:nvCxnSpPr>
        <p:spPr>
          <a:xfrm>
            <a:off x="8979408" y="2267712"/>
            <a:ext cx="877824" cy="493776"/>
          </a:xfrm>
          <a:prstGeom prst="line">
            <a:avLst/>
          </a:prstGeom>
          <a:ln w="25400">
            <a:solidFill>
              <a:srgbClr val="8190A8"/>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7161465">
            <a:off x="9793224" y="2697480"/>
            <a:ext cx="128016" cy="128016"/>
          </a:xfrm>
          <a:prstGeom prst="triangle">
            <a:avLst/>
          </a:prstGeom>
          <a:solidFill>
            <a:srgbClr val="81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0" name="Connector 19"/>
          <p:cNvCxnSpPr/>
          <p:nvPr/>
        </p:nvCxnSpPr>
        <p:spPr>
          <a:xfrm flipH="1">
            <a:off x="8979408" y="3264408"/>
            <a:ext cx="923544" cy="356616"/>
          </a:xfrm>
          <a:prstGeom prst="line">
            <a:avLst/>
          </a:prstGeom>
          <a:ln w="25400">
            <a:solidFill>
              <a:srgbClr val="8190A8"/>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14933190">
            <a:off x="8915400" y="3557016"/>
            <a:ext cx="128016" cy="128016"/>
          </a:xfrm>
          <a:prstGeom prst="triangle">
            <a:avLst/>
          </a:prstGeom>
          <a:solidFill>
            <a:srgbClr val="8190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721608"/>
            <a:ext cx="1828800" cy="182880"/>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PRESENTED BY</a:t>
            </a:r>
          </a:p>
        </p:txBody>
      </p:sp>
      <p:sp>
        <p:nvSpPr>
          <p:cNvPr id="23" name="TextBox 22"/>
          <p:cNvSpPr txBox="1"/>
          <p:nvPr/>
        </p:nvSpPr>
        <p:spPr>
          <a:xfrm>
            <a:off x="804672" y="4023360"/>
            <a:ext cx="6035040" cy="274320"/>
          </a:xfrm>
          <a:prstGeom prst="rect">
            <a:avLst/>
          </a:prstGeom>
          <a:noFill/>
        </p:spPr>
        <p:txBody>
          <a:bodyPr wrap="square" lIns="9144" rIns="9144" tIns="9144" bIns="9144" anchor="t">
            <a:spAutoFit/>
          </a:bodyPr>
          <a:lstStyle/>
          <a:p>
            <a:pPr algn="l">
              <a:spcAft>
                <a:spcPts val="0"/>
              </a:spcAft>
            </a:pPr>
            <a:r>
              <a:rPr sz="1200" b="1">
                <a:solidFill>
                  <a:srgbClr val="FFFFFF"/>
                </a:solidFill>
                <a:latin typeface="Aptos"/>
              </a:rPr>
              <a:t>[Student Name]  |  Roll No. [Roll Number]</a:t>
            </a:r>
          </a:p>
        </p:txBody>
      </p:sp>
      <p:sp>
        <p:nvSpPr>
          <p:cNvPr id="24" name="TextBox 23"/>
          <p:cNvSpPr txBox="1"/>
          <p:nvPr/>
        </p:nvSpPr>
        <p:spPr>
          <a:xfrm>
            <a:off x="804672" y="4407408"/>
            <a:ext cx="6858000" cy="274320"/>
          </a:xfrm>
          <a:prstGeom prst="rect">
            <a:avLst/>
          </a:prstGeom>
          <a:noFill/>
        </p:spPr>
        <p:txBody>
          <a:bodyPr wrap="square" lIns="9144" rIns="9144" tIns="9144" bIns="9144" anchor="t">
            <a:spAutoFit/>
          </a:bodyPr>
          <a:lstStyle/>
          <a:p>
            <a:pPr algn="l">
              <a:spcAft>
                <a:spcPts val="0"/>
              </a:spcAft>
            </a:pPr>
            <a:r>
              <a:rPr sz="1000" b="0">
                <a:solidFill>
                  <a:srgbClr val="C4D0E2"/>
                </a:solidFill>
                <a:latin typeface="Aptos"/>
              </a:rPr>
              <a:t>[Department]  |  [College Name]  |  Academic Year [20XX–20XX]</a:t>
            </a:r>
          </a:p>
        </p:txBody>
      </p:sp>
      <p:sp>
        <p:nvSpPr>
          <p:cNvPr id="25" name="Rounded Rectangle 24"/>
          <p:cNvSpPr/>
          <p:nvPr/>
        </p:nvSpPr>
        <p:spPr>
          <a:xfrm>
            <a:off x="804672" y="5285232"/>
            <a:ext cx="1993392" cy="438912"/>
          </a:xfrm>
          <a:prstGeom prst="roundRect">
            <a:avLst>
              <a:gd name="adj" fmla="val 12000"/>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285232"/>
            <a:ext cx="1993392" cy="438912"/>
          </a:xfrm>
          <a:prstGeom prst="rect">
            <a:avLst/>
          </a:prstGeom>
          <a:noFill/>
        </p:spPr>
        <p:txBody>
          <a:bodyPr wrap="square" lIns="9144" rIns="9144" tIns="9144" bIns="9144" anchor="ctr">
            <a:spAutoFit/>
          </a:bodyPr>
          <a:lstStyle/>
          <a:p>
            <a:pPr algn="ctr">
              <a:spcAft>
                <a:spcPts val="0"/>
              </a:spcAft>
            </a:pPr>
            <a:r>
              <a:rPr sz="1000" b="1">
                <a:solidFill>
                  <a:srgbClr val="101B35"/>
                </a:solidFill>
                <a:latin typeface="Aptos"/>
              </a:rPr>
              <a:t>PROJECT REVIEW</a:t>
            </a:r>
          </a:p>
        </p:txBody>
      </p:sp>
      <p:sp>
        <p:nvSpPr>
          <p:cNvPr id="27" name="TextBox 26"/>
          <p:cNvSpPr txBox="1"/>
          <p:nvPr/>
        </p:nvSpPr>
        <p:spPr>
          <a:xfrm>
            <a:off x="10680192" y="6528816"/>
            <a:ext cx="932688" cy="164592"/>
          </a:xfrm>
          <a:prstGeom prst="rect">
            <a:avLst/>
          </a:prstGeom>
          <a:noFill/>
        </p:spPr>
        <p:txBody>
          <a:bodyPr wrap="square" lIns="9144" rIns="9144" tIns="9144" bIns="9144" anchor="t">
            <a:spAutoFit/>
          </a:bodyPr>
          <a:lstStyle/>
          <a:p>
            <a:pPr algn="r">
              <a:spcAft>
                <a:spcPts val="0"/>
              </a:spcAft>
            </a:pPr>
            <a:r>
              <a:rPr sz="800" b="1">
                <a:solidFill>
                  <a:srgbClr val="BFCBE0"/>
                </a:solidFill>
                <a:latin typeface="Aptos"/>
              </a:rPr>
              <a:t>01 / 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66928" y="301752"/>
            <a:ext cx="10058400" cy="219456"/>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PROJECT INTRODUCTION &amp; MOTIVE</a:t>
            </a:r>
          </a:p>
        </p:txBody>
      </p:sp>
      <p:sp>
        <p:nvSpPr>
          <p:cNvPr id="3" name="TextBox 2"/>
          <p:cNvSpPr txBox="1"/>
          <p:nvPr/>
        </p:nvSpPr>
        <p:spPr>
          <a:xfrm>
            <a:off x="566928" y="621792"/>
            <a:ext cx="11064240" cy="530352"/>
          </a:xfrm>
          <a:prstGeom prst="rect">
            <a:avLst/>
          </a:prstGeom>
          <a:noFill/>
        </p:spPr>
        <p:txBody>
          <a:bodyPr wrap="square" lIns="9144" rIns="9144" tIns="9144" bIns="9144" anchor="t">
            <a:spAutoFit/>
          </a:bodyPr>
          <a:lstStyle/>
          <a:p>
            <a:pPr algn="l">
              <a:spcAft>
                <a:spcPts val="0"/>
              </a:spcAft>
            </a:pPr>
            <a:r>
              <a:rPr sz="2500" b="1">
                <a:solidFill>
                  <a:srgbClr val="17233B"/>
                </a:solidFill>
                <a:latin typeface="Aptos"/>
              </a:rPr>
              <a:t>A clearer route from student goals to career preparation</a:t>
            </a:r>
          </a:p>
        </p:txBody>
      </p:sp>
      <p:sp>
        <p:nvSpPr>
          <p:cNvPr id="4" name="Rectangle 3"/>
          <p:cNvSpPr/>
          <p:nvPr/>
        </p:nvSpPr>
        <p:spPr>
          <a:xfrm>
            <a:off x="566928" y="1252728"/>
            <a:ext cx="512064" cy="4114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47104"/>
            <a:ext cx="5486400" cy="146304"/>
          </a:xfrm>
          <a:prstGeom prst="rect">
            <a:avLst/>
          </a:prstGeom>
          <a:noFill/>
        </p:spPr>
        <p:txBody>
          <a:bodyPr wrap="square" lIns="9144" rIns="9144" tIns="9144" bIns="9144" anchor="t">
            <a:spAutoFit/>
          </a:bodyPr>
          <a:lstStyle/>
          <a:p>
            <a:pPr algn="l">
              <a:spcAft>
                <a:spcPts val="0"/>
              </a:spcAft>
            </a:pPr>
            <a:r>
              <a:rPr sz="800" b="1">
                <a:solidFill>
                  <a:srgbClr val="68758D"/>
                </a:solidFill>
                <a:latin typeface="Aptos"/>
              </a:rPr>
              <a:t>CAREERNIFY  /  COLLEGE PROJECT REVIEW</a:t>
            </a:r>
          </a:p>
        </p:txBody>
      </p:sp>
      <p:sp>
        <p:nvSpPr>
          <p:cNvPr id="6" name="TextBox 5"/>
          <p:cNvSpPr txBox="1"/>
          <p:nvPr/>
        </p:nvSpPr>
        <p:spPr>
          <a:xfrm>
            <a:off x="10661904" y="6528816"/>
            <a:ext cx="960120" cy="164592"/>
          </a:xfrm>
          <a:prstGeom prst="rect">
            <a:avLst/>
          </a:prstGeom>
          <a:noFill/>
        </p:spPr>
        <p:txBody>
          <a:bodyPr wrap="square" lIns="9144" rIns="9144" tIns="9144" bIns="9144" anchor="t">
            <a:spAutoFit/>
          </a:bodyPr>
          <a:lstStyle/>
          <a:p>
            <a:pPr algn="r">
              <a:spcAft>
                <a:spcPts val="0"/>
              </a:spcAft>
            </a:pPr>
            <a:r>
              <a:rPr sz="800" b="1">
                <a:solidFill>
                  <a:srgbClr val="68758D"/>
                </a:solidFill>
                <a:latin typeface="Aptos"/>
              </a:rPr>
              <a:t>02 / 09</a:t>
            </a:r>
          </a:p>
        </p:txBody>
      </p:sp>
      <p:sp>
        <p:nvSpPr>
          <p:cNvPr id="7" name="TextBox 6"/>
          <p:cNvSpPr txBox="1"/>
          <p:nvPr/>
        </p:nvSpPr>
        <p:spPr>
          <a:xfrm>
            <a:off x="658368" y="1508760"/>
            <a:ext cx="10698480" cy="438912"/>
          </a:xfrm>
          <a:prstGeom prst="rect">
            <a:avLst/>
          </a:prstGeom>
          <a:noFill/>
        </p:spPr>
        <p:txBody>
          <a:bodyPr wrap="square" lIns="9144" rIns="9144" tIns="9144" bIns="9144" anchor="t">
            <a:spAutoFit/>
          </a:bodyPr>
          <a:lstStyle/>
          <a:p>
            <a:pPr algn="l">
              <a:spcAft>
                <a:spcPts val="0"/>
              </a:spcAft>
            </a:pPr>
            <a:r>
              <a:rPr sz="1600" b="1">
                <a:solidFill>
                  <a:srgbClr val="17233B"/>
                </a:solidFill>
                <a:latin typeface="Aptos"/>
              </a:rPr>
              <a:t>CareerNify is a student-facing web app that organizes career and placement preparation in one place.</a:t>
            </a:r>
          </a:p>
        </p:txBody>
      </p:sp>
      <p:sp>
        <p:nvSpPr>
          <p:cNvPr id="8" name="Rounded Rectangle 7"/>
          <p:cNvSpPr/>
          <p:nvPr/>
        </p:nvSpPr>
        <p:spPr>
          <a:xfrm>
            <a:off x="749808" y="2258568"/>
            <a:ext cx="2286000" cy="93268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96112" y="2468880"/>
            <a:ext cx="256032" cy="256032"/>
          </a:xfrm>
          <a:prstGeom prst="ellipse">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52728" y="2404872"/>
            <a:ext cx="1627632" cy="210312"/>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EXPLORE</a:t>
            </a:r>
          </a:p>
        </p:txBody>
      </p:sp>
      <p:sp>
        <p:nvSpPr>
          <p:cNvPr id="11" name="TextBox 10"/>
          <p:cNvSpPr txBox="1"/>
          <p:nvPr/>
        </p:nvSpPr>
        <p:spPr>
          <a:xfrm>
            <a:off x="1252728" y="2679192"/>
            <a:ext cx="1627632" cy="219456"/>
          </a:xfrm>
          <a:prstGeom prst="rect">
            <a:avLst/>
          </a:prstGeom>
          <a:noFill/>
        </p:spPr>
        <p:txBody>
          <a:bodyPr wrap="square" lIns="9144" rIns="9144" tIns="9144" bIns="9144" anchor="t">
            <a:spAutoFit/>
          </a:bodyPr>
          <a:lstStyle/>
          <a:p>
            <a:pPr algn="l">
              <a:spcAft>
                <a:spcPts val="0"/>
              </a:spcAft>
            </a:pPr>
            <a:r>
              <a:rPr sz="1100" b="1">
                <a:solidFill>
                  <a:srgbClr val="17233B"/>
                </a:solidFill>
                <a:latin typeface="Aptos"/>
              </a:rPr>
              <a:t>Career options</a:t>
            </a:r>
          </a:p>
        </p:txBody>
      </p:sp>
      <p:cxnSp>
        <p:nvCxnSpPr>
          <p:cNvPr id="12" name="Connector 11"/>
          <p:cNvCxnSpPr/>
          <p:nvPr/>
        </p:nvCxnSpPr>
        <p:spPr>
          <a:xfrm>
            <a:off x="3090672" y="2724912"/>
            <a:ext cx="420624" cy="0"/>
          </a:xfrm>
          <a:prstGeom prst="line">
            <a:avLst/>
          </a:prstGeom>
          <a:ln w="19050">
            <a:solidFill>
              <a:srgbClr val="9AA8BA"/>
            </a:solidFill>
          </a:ln>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5400000">
            <a:off x="3447288" y="2660904"/>
            <a:ext cx="128016" cy="128016"/>
          </a:xfrm>
          <a:prstGeom prst="triangle">
            <a:avLst/>
          </a:prstGeom>
          <a:solidFill>
            <a:srgbClr val="9AA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602736" y="2258568"/>
            <a:ext cx="2286000" cy="93268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749039" y="2468880"/>
            <a:ext cx="256032" cy="256032"/>
          </a:xfrm>
          <a:prstGeom prst="ellipse">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105656" y="2404872"/>
            <a:ext cx="1627632" cy="210312"/>
          </a:xfrm>
          <a:prstGeom prst="rect">
            <a:avLst/>
          </a:prstGeom>
          <a:noFill/>
        </p:spPr>
        <p:txBody>
          <a:bodyPr wrap="square" lIns="9144" rIns="9144" tIns="9144" bIns="9144" anchor="t">
            <a:spAutoFit/>
          </a:bodyPr>
          <a:lstStyle/>
          <a:p>
            <a:pPr algn="l">
              <a:spcAft>
                <a:spcPts val="0"/>
              </a:spcAft>
            </a:pPr>
            <a:r>
              <a:rPr sz="900" b="1">
                <a:solidFill>
                  <a:srgbClr val="5278F5"/>
                </a:solidFill>
                <a:latin typeface="Aptos"/>
              </a:rPr>
              <a:t>DEVELOP</a:t>
            </a:r>
          </a:p>
        </p:txBody>
      </p:sp>
      <p:sp>
        <p:nvSpPr>
          <p:cNvPr id="17" name="TextBox 16"/>
          <p:cNvSpPr txBox="1"/>
          <p:nvPr/>
        </p:nvSpPr>
        <p:spPr>
          <a:xfrm>
            <a:off x="4105656" y="2679192"/>
            <a:ext cx="1627632" cy="219456"/>
          </a:xfrm>
          <a:prstGeom prst="rect">
            <a:avLst/>
          </a:prstGeom>
          <a:noFill/>
        </p:spPr>
        <p:txBody>
          <a:bodyPr wrap="square" lIns="9144" rIns="9144" tIns="9144" bIns="9144" anchor="t">
            <a:spAutoFit/>
          </a:bodyPr>
          <a:lstStyle/>
          <a:p>
            <a:pPr algn="l">
              <a:spcAft>
                <a:spcPts val="0"/>
              </a:spcAft>
            </a:pPr>
            <a:r>
              <a:rPr sz="1100" b="1">
                <a:solidFill>
                  <a:srgbClr val="17233B"/>
                </a:solidFill>
                <a:latin typeface="Aptos"/>
              </a:rPr>
              <a:t>Skills &amp; learning</a:t>
            </a:r>
          </a:p>
        </p:txBody>
      </p:sp>
      <p:cxnSp>
        <p:nvCxnSpPr>
          <p:cNvPr id="18" name="Connector 17"/>
          <p:cNvCxnSpPr/>
          <p:nvPr/>
        </p:nvCxnSpPr>
        <p:spPr>
          <a:xfrm>
            <a:off x="5943600" y="2724912"/>
            <a:ext cx="420624" cy="0"/>
          </a:xfrm>
          <a:prstGeom prst="line">
            <a:avLst/>
          </a:prstGeom>
          <a:ln w="19050">
            <a:solidFill>
              <a:srgbClr val="9AA8BA"/>
            </a:solidFill>
          </a:ln>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6300216" y="2660904"/>
            <a:ext cx="128016" cy="128016"/>
          </a:xfrm>
          <a:prstGeom prst="triangle">
            <a:avLst/>
          </a:prstGeom>
          <a:solidFill>
            <a:srgbClr val="9AA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455664" y="2258568"/>
            <a:ext cx="2286000" cy="93268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601968" y="2468880"/>
            <a:ext cx="256032" cy="256032"/>
          </a:xfrm>
          <a:prstGeom prst="ellipse">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58584" y="2404872"/>
            <a:ext cx="1627632" cy="210312"/>
          </a:xfrm>
          <a:prstGeom prst="rect">
            <a:avLst/>
          </a:prstGeom>
          <a:noFill/>
        </p:spPr>
        <p:txBody>
          <a:bodyPr wrap="square" lIns="9144" rIns="9144" tIns="9144" bIns="9144" anchor="t">
            <a:spAutoFit/>
          </a:bodyPr>
          <a:lstStyle/>
          <a:p>
            <a:pPr algn="l">
              <a:spcAft>
                <a:spcPts val="0"/>
              </a:spcAft>
            </a:pPr>
            <a:r>
              <a:rPr sz="900" b="1">
                <a:solidFill>
                  <a:srgbClr val="F4B95F"/>
                </a:solidFill>
                <a:latin typeface="Aptos"/>
              </a:rPr>
              <a:t>PREPARE</a:t>
            </a:r>
          </a:p>
        </p:txBody>
      </p:sp>
      <p:sp>
        <p:nvSpPr>
          <p:cNvPr id="23" name="TextBox 22"/>
          <p:cNvSpPr txBox="1"/>
          <p:nvPr/>
        </p:nvSpPr>
        <p:spPr>
          <a:xfrm>
            <a:off x="6958584" y="2679192"/>
            <a:ext cx="1627632" cy="219456"/>
          </a:xfrm>
          <a:prstGeom prst="rect">
            <a:avLst/>
          </a:prstGeom>
          <a:noFill/>
        </p:spPr>
        <p:txBody>
          <a:bodyPr wrap="square" lIns="9144" rIns="9144" tIns="9144" bIns="9144" anchor="t">
            <a:spAutoFit/>
          </a:bodyPr>
          <a:lstStyle/>
          <a:p>
            <a:pPr algn="l">
              <a:spcAft>
                <a:spcPts val="0"/>
              </a:spcAft>
            </a:pPr>
            <a:r>
              <a:rPr sz="1100" b="1">
                <a:solidFill>
                  <a:srgbClr val="17233B"/>
                </a:solidFill>
                <a:latin typeface="Aptos"/>
              </a:rPr>
              <a:t>Interview practice</a:t>
            </a:r>
          </a:p>
        </p:txBody>
      </p:sp>
      <p:cxnSp>
        <p:nvCxnSpPr>
          <p:cNvPr id="24" name="Connector 23"/>
          <p:cNvCxnSpPr/>
          <p:nvPr/>
        </p:nvCxnSpPr>
        <p:spPr>
          <a:xfrm>
            <a:off x="8796528" y="2724912"/>
            <a:ext cx="420624" cy="0"/>
          </a:xfrm>
          <a:prstGeom prst="line">
            <a:avLst/>
          </a:prstGeom>
          <a:ln w="19050">
            <a:solidFill>
              <a:srgbClr val="9AA8BA"/>
            </a:solidFill>
          </a:ln>
        </p:spPr>
        <p:style>
          <a:lnRef idx="2">
            <a:schemeClr val="accent1"/>
          </a:lnRef>
          <a:fillRef idx="0">
            <a:schemeClr val="accent1"/>
          </a:fillRef>
          <a:effectRef idx="1">
            <a:schemeClr val="accent1"/>
          </a:effectRef>
          <a:fontRef idx="minor">
            <a:schemeClr val="tx1"/>
          </a:fontRef>
        </p:style>
      </p:cxnSp>
      <p:sp>
        <p:nvSpPr>
          <p:cNvPr id="25" name="Isosceles Triangle 24"/>
          <p:cNvSpPr/>
          <p:nvPr/>
        </p:nvSpPr>
        <p:spPr>
          <a:xfrm rot="5400000">
            <a:off x="9153144" y="2660904"/>
            <a:ext cx="128016" cy="128016"/>
          </a:xfrm>
          <a:prstGeom prst="triangle">
            <a:avLst/>
          </a:prstGeom>
          <a:solidFill>
            <a:srgbClr val="9AA8B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308592" y="2258568"/>
            <a:ext cx="2286000" cy="93268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454896" y="2468880"/>
            <a:ext cx="256032" cy="256032"/>
          </a:xfrm>
          <a:prstGeom prst="ellipse">
            <a:avLst/>
          </a:prstGeom>
          <a:solidFill>
            <a:srgbClr val="8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11512" y="2404872"/>
            <a:ext cx="1627632" cy="210312"/>
          </a:xfrm>
          <a:prstGeom prst="rect">
            <a:avLst/>
          </a:prstGeom>
          <a:noFill/>
        </p:spPr>
        <p:txBody>
          <a:bodyPr wrap="square" lIns="9144" rIns="9144" tIns="9144" bIns="9144" anchor="t">
            <a:spAutoFit/>
          </a:bodyPr>
          <a:lstStyle/>
          <a:p>
            <a:pPr algn="l">
              <a:spcAft>
                <a:spcPts val="0"/>
              </a:spcAft>
            </a:pPr>
            <a:r>
              <a:rPr sz="900" b="1">
                <a:solidFill>
                  <a:srgbClr val="8F9DF7"/>
                </a:solidFill>
                <a:latin typeface="Aptos"/>
              </a:rPr>
              <a:t>DISCOVER</a:t>
            </a:r>
          </a:p>
        </p:txBody>
      </p:sp>
      <p:sp>
        <p:nvSpPr>
          <p:cNvPr id="29" name="TextBox 28"/>
          <p:cNvSpPr txBox="1"/>
          <p:nvPr/>
        </p:nvSpPr>
        <p:spPr>
          <a:xfrm>
            <a:off x="9811512" y="2679192"/>
            <a:ext cx="1627632" cy="219456"/>
          </a:xfrm>
          <a:prstGeom prst="rect">
            <a:avLst/>
          </a:prstGeom>
          <a:noFill/>
        </p:spPr>
        <p:txBody>
          <a:bodyPr wrap="square" lIns="9144" rIns="9144" tIns="9144" bIns="9144" anchor="t">
            <a:spAutoFit/>
          </a:bodyPr>
          <a:lstStyle/>
          <a:p>
            <a:pPr algn="l">
              <a:spcAft>
                <a:spcPts val="0"/>
              </a:spcAft>
            </a:pPr>
            <a:r>
              <a:rPr sz="1100" b="1">
                <a:solidFill>
                  <a:srgbClr val="17233B"/>
                </a:solidFill>
                <a:latin typeface="Aptos"/>
              </a:rPr>
              <a:t>Jobs &amp; drives</a:t>
            </a:r>
          </a:p>
        </p:txBody>
      </p:sp>
      <p:sp>
        <p:nvSpPr>
          <p:cNvPr id="30" name="Rounded Rectangle 29"/>
          <p:cNvSpPr/>
          <p:nvPr/>
        </p:nvSpPr>
        <p:spPr>
          <a:xfrm>
            <a:off x="749808" y="3566160"/>
            <a:ext cx="5074920" cy="157276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49808" y="3566160"/>
            <a:ext cx="41148" cy="157276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32688" y="3721608"/>
            <a:ext cx="4727448" cy="320040"/>
          </a:xfrm>
          <a:prstGeom prst="rect">
            <a:avLst/>
          </a:prstGeom>
          <a:noFill/>
        </p:spPr>
        <p:txBody>
          <a:bodyPr wrap="square" lIns="9144" rIns="9144" tIns="9144" bIns="9144" anchor="t">
            <a:spAutoFit/>
          </a:bodyPr>
          <a:lstStyle/>
          <a:p>
            <a:pPr algn="l">
              <a:spcAft>
                <a:spcPts val="0"/>
              </a:spcAft>
            </a:pPr>
            <a:r>
              <a:rPr sz="1400" b="1">
                <a:solidFill>
                  <a:srgbClr val="17233B"/>
                </a:solidFill>
                <a:latin typeface="Aptos"/>
              </a:rPr>
              <a:t>Why this project?</a:t>
            </a:r>
          </a:p>
        </p:txBody>
      </p:sp>
      <p:sp>
        <p:nvSpPr>
          <p:cNvPr id="33" name="TextBox 32"/>
          <p:cNvSpPr txBox="1"/>
          <p:nvPr/>
        </p:nvSpPr>
        <p:spPr>
          <a:xfrm>
            <a:off x="932688" y="4096511"/>
            <a:ext cx="4727448" cy="950976"/>
          </a:xfrm>
          <a:prstGeom prst="rect">
            <a:avLst/>
          </a:prstGeom>
          <a:noFill/>
        </p:spPr>
        <p:txBody>
          <a:bodyPr wrap="square" lIns="9144" rIns="9144" tIns="9144" bIns="9144" anchor="t">
            <a:spAutoFit/>
          </a:bodyPr>
          <a:lstStyle/>
          <a:p>
            <a:pPr algn="l">
              <a:spcAft>
                <a:spcPts val="0"/>
              </a:spcAft>
            </a:pPr>
            <a:r>
              <a:rPr sz="1000" b="0">
                <a:solidFill>
                  <a:srgbClr val="68758D"/>
                </a:solidFill>
                <a:latin typeface="Aptos"/>
              </a:rPr>
              <a:t>Career information, skill-building and placement preparation can be scattered across separate tools. Students need a visible path from a goal to practical next actions.</a:t>
            </a:r>
          </a:p>
        </p:txBody>
      </p:sp>
      <p:sp>
        <p:nvSpPr>
          <p:cNvPr id="34" name="Rounded Rectangle 33"/>
          <p:cNvSpPr/>
          <p:nvPr/>
        </p:nvSpPr>
        <p:spPr>
          <a:xfrm>
            <a:off x="6144768" y="3566160"/>
            <a:ext cx="5285232" cy="157276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44768" y="3566160"/>
            <a:ext cx="41148" cy="1572768"/>
          </a:xfrm>
          <a:prstGeom prst="rect">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27648" y="3721608"/>
            <a:ext cx="4937760" cy="320040"/>
          </a:xfrm>
          <a:prstGeom prst="rect">
            <a:avLst/>
          </a:prstGeom>
          <a:noFill/>
        </p:spPr>
        <p:txBody>
          <a:bodyPr wrap="square" lIns="9144" rIns="9144" tIns="9144" bIns="9144" anchor="t">
            <a:spAutoFit/>
          </a:bodyPr>
          <a:lstStyle/>
          <a:p>
            <a:pPr algn="l">
              <a:spcAft>
                <a:spcPts val="0"/>
              </a:spcAft>
            </a:pPr>
            <a:r>
              <a:rPr sz="1400" b="1">
                <a:solidFill>
                  <a:srgbClr val="17233B"/>
                </a:solidFill>
                <a:latin typeface="Aptos"/>
              </a:rPr>
              <a:t>Who benefits?</a:t>
            </a:r>
          </a:p>
        </p:txBody>
      </p:sp>
      <p:sp>
        <p:nvSpPr>
          <p:cNvPr id="37" name="TextBox 36"/>
          <p:cNvSpPr txBox="1"/>
          <p:nvPr/>
        </p:nvSpPr>
        <p:spPr>
          <a:xfrm>
            <a:off x="6327648" y="4096511"/>
            <a:ext cx="4937760" cy="950976"/>
          </a:xfrm>
          <a:prstGeom prst="rect">
            <a:avLst/>
          </a:prstGeom>
          <a:noFill/>
        </p:spPr>
        <p:txBody>
          <a:bodyPr wrap="square" lIns="9144" rIns="9144" tIns="9144" bIns="9144" anchor="t">
            <a:spAutoFit/>
          </a:bodyPr>
          <a:lstStyle/>
          <a:p>
            <a:pPr algn="l">
              <a:spcAft>
                <a:spcPts val="0"/>
              </a:spcAft>
            </a:pPr>
            <a:r>
              <a:rPr sz="1000" b="0">
                <a:solidFill>
                  <a:srgbClr val="68758D"/>
                </a:solidFill>
                <a:latin typeface="Aptos"/>
              </a:rPr>
              <a:t>Students can explore roles, see learning and preparation pages, and find opportunities. Administrators have dedicated pages for managing platform content.</a:t>
            </a:r>
          </a:p>
        </p:txBody>
      </p:sp>
      <p:sp>
        <p:nvSpPr>
          <p:cNvPr id="38" name="Rounded Rectangle 37"/>
          <p:cNvSpPr/>
          <p:nvPr/>
        </p:nvSpPr>
        <p:spPr>
          <a:xfrm>
            <a:off x="749808" y="5504688"/>
            <a:ext cx="10680192" cy="484632"/>
          </a:xfrm>
          <a:prstGeom prst="roundRect">
            <a:avLst>
              <a:gd name="adj" fmla="val 12000"/>
            </a:avLst>
          </a:prstGeom>
          <a:solidFill>
            <a:srgbClr val="10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32688" y="5504688"/>
            <a:ext cx="10314432" cy="484632"/>
          </a:xfrm>
          <a:prstGeom prst="rect">
            <a:avLst/>
          </a:prstGeom>
          <a:noFill/>
        </p:spPr>
        <p:txBody>
          <a:bodyPr wrap="square" lIns="9144" rIns="9144" tIns="9144" bIns="9144" anchor="ctr">
            <a:spAutoFit/>
          </a:bodyPr>
          <a:lstStyle/>
          <a:p>
            <a:pPr algn="ctr">
              <a:spcAft>
                <a:spcPts val="0"/>
              </a:spcAft>
            </a:pPr>
            <a:r>
              <a:rPr sz="1100" b="1">
                <a:solidFill>
                  <a:srgbClr val="FFFFFF"/>
                </a:solidFill>
                <a:latin typeface="Aptos"/>
              </a:rPr>
              <a:t>MOTIVE  |  Make career preparation more organized, visible and actionable for students.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01B35"/>
        </a:solidFill>
        <a:effectLst/>
      </p:bgPr>
    </p:bg>
    <p:spTree>
      <p:nvGrpSpPr>
        <p:cNvPr id="1" name=""/>
        <p:cNvGrpSpPr/>
        <p:nvPr/>
      </p:nvGrpSpPr>
      <p:grpSpPr/>
      <p:sp>
        <p:nvSpPr>
          <p:cNvPr id="2" name="TextBox 1"/>
          <p:cNvSpPr txBox="1"/>
          <p:nvPr/>
        </p:nvSpPr>
        <p:spPr>
          <a:xfrm>
            <a:off x="566928" y="301752"/>
            <a:ext cx="10058400" cy="219456"/>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PROBLEM STATEMENT &amp; OBJECTIVES</a:t>
            </a:r>
          </a:p>
        </p:txBody>
      </p:sp>
      <p:sp>
        <p:nvSpPr>
          <p:cNvPr id="3" name="TextBox 2"/>
          <p:cNvSpPr txBox="1"/>
          <p:nvPr/>
        </p:nvSpPr>
        <p:spPr>
          <a:xfrm>
            <a:off x="566928" y="621792"/>
            <a:ext cx="11064240" cy="530352"/>
          </a:xfrm>
          <a:prstGeom prst="rect">
            <a:avLst/>
          </a:prstGeom>
          <a:noFill/>
        </p:spPr>
        <p:txBody>
          <a:bodyPr wrap="square" lIns="9144" rIns="9144" tIns="9144" bIns="9144" anchor="t">
            <a:spAutoFit/>
          </a:bodyPr>
          <a:lstStyle/>
          <a:p>
            <a:pPr algn="l">
              <a:spcAft>
                <a:spcPts val="0"/>
              </a:spcAft>
            </a:pPr>
            <a:r>
              <a:rPr sz="2500" b="1">
                <a:solidFill>
                  <a:srgbClr val="FFFFFF"/>
                </a:solidFill>
                <a:latin typeface="Aptos"/>
              </a:rPr>
              <a:t>From scattered preparation to a connected student workspace</a:t>
            </a:r>
          </a:p>
        </p:txBody>
      </p:sp>
      <p:sp>
        <p:nvSpPr>
          <p:cNvPr id="4" name="Rectangle 3"/>
          <p:cNvSpPr/>
          <p:nvPr/>
        </p:nvSpPr>
        <p:spPr>
          <a:xfrm>
            <a:off x="566928" y="1252728"/>
            <a:ext cx="512064" cy="4114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47104"/>
            <a:ext cx="5486400" cy="146304"/>
          </a:xfrm>
          <a:prstGeom prst="rect">
            <a:avLst/>
          </a:prstGeom>
          <a:noFill/>
        </p:spPr>
        <p:txBody>
          <a:bodyPr wrap="square" lIns="9144" rIns="9144" tIns="9144" bIns="9144" anchor="t">
            <a:spAutoFit/>
          </a:bodyPr>
          <a:lstStyle/>
          <a:p>
            <a:pPr algn="l">
              <a:spcAft>
                <a:spcPts val="0"/>
              </a:spcAft>
            </a:pPr>
            <a:r>
              <a:rPr sz="800" b="1">
                <a:solidFill>
                  <a:srgbClr val="C8D3E4"/>
                </a:solidFill>
                <a:latin typeface="Aptos"/>
              </a:rPr>
              <a:t>CAREERNIFY  /  COLLEGE PROJECT REVIEW</a:t>
            </a:r>
          </a:p>
        </p:txBody>
      </p:sp>
      <p:sp>
        <p:nvSpPr>
          <p:cNvPr id="6" name="TextBox 5"/>
          <p:cNvSpPr txBox="1"/>
          <p:nvPr/>
        </p:nvSpPr>
        <p:spPr>
          <a:xfrm>
            <a:off x="10661904" y="6528816"/>
            <a:ext cx="960120" cy="164592"/>
          </a:xfrm>
          <a:prstGeom prst="rect">
            <a:avLst/>
          </a:prstGeom>
          <a:noFill/>
        </p:spPr>
        <p:txBody>
          <a:bodyPr wrap="square" lIns="9144" rIns="9144" tIns="9144" bIns="9144" anchor="t">
            <a:spAutoFit/>
          </a:bodyPr>
          <a:lstStyle/>
          <a:p>
            <a:pPr algn="r">
              <a:spcAft>
                <a:spcPts val="0"/>
              </a:spcAft>
            </a:pPr>
            <a:r>
              <a:rPr sz="800" b="1">
                <a:solidFill>
                  <a:srgbClr val="C8D3E4"/>
                </a:solidFill>
                <a:latin typeface="Aptos"/>
              </a:rPr>
              <a:t>03 / 09</a:t>
            </a:r>
          </a:p>
        </p:txBody>
      </p:sp>
      <p:sp>
        <p:nvSpPr>
          <p:cNvPr id="7" name="TextBox 6"/>
          <p:cNvSpPr txBox="1"/>
          <p:nvPr/>
        </p:nvSpPr>
        <p:spPr>
          <a:xfrm>
            <a:off x="694944" y="1508760"/>
            <a:ext cx="3657600" cy="219456"/>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THE CURRENT CHALLENGE</a:t>
            </a:r>
          </a:p>
        </p:txBody>
      </p:sp>
      <p:sp>
        <p:nvSpPr>
          <p:cNvPr id="8" name="TextBox 7"/>
          <p:cNvSpPr txBox="1"/>
          <p:nvPr/>
        </p:nvSpPr>
        <p:spPr>
          <a:xfrm>
            <a:off x="694944" y="1819656"/>
            <a:ext cx="5074920" cy="786384"/>
          </a:xfrm>
          <a:prstGeom prst="rect">
            <a:avLst/>
          </a:prstGeom>
          <a:noFill/>
        </p:spPr>
        <p:txBody>
          <a:bodyPr wrap="square" lIns="9144" rIns="9144" tIns="9144" bIns="9144" anchor="t">
            <a:spAutoFit/>
          </a:bodyPr>
          <a:lstStyle/>
          <a:p>
            <a:pPr algn="l">
              <a:spcAft>
                <a:spcPts val="0"/>
              </a:spcAft>
            </a:pPr>
            <a:r>
              <a:rPr sz="1700" b="1">
                <a:solidFill>
                  <a:srgbClr val="FFFFFF"/>
                </a:solidFill>
                <a:latin typeface="Aptos"/>
              </a:rPr>
              <a:t>Career planning, skill development and job preparation often happen in separate places.</a:t>
            </a:r>
          </a:p>
        </p:txBody>
      </p:sp>
      <p:sp>
        <p:nvSpPr>
          <p:cNvPr id="9" name="Oval 8"/>
          <p:cNvSpPr/>
          <p:nvPr/>
        </p:nvSpPr>
        <p:spPr>
          <a:xfrm>
            <a:off x="749808" y="2788920"/>
            <a:ext cx="201168" cy="201168"/>
          </a:xfrm>
          <a:prstGeom prst="ellipse">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7280" y="2743200"/>
            <a:ext cx="1965960" cy="237744"/>
          </a:xfrm>
          <a:prstGeom prst="rect">
            <a:avLst/>
          </a:prstGeom>
          <a:noFill/>
        </p:spPr>
        <p:txBody>
          <a:bodyPr wrap="square" lIns="9144" rIns="9144" tIns="9144" bIns="9144" anchor="t">
            <a:spAutoFit/>
          </a:bodyPr>
          <a:lstStyle/>
          <a:p>
            <a:pPr algn="l">
              <a:spcAft>
                <a:spcPts val="0"/>
              </a:spcAft>
            </a:pPr>
            <a:r>
              <a:rPr sz="1100" b="1">
                <a:solidFill>
                  <a:srgbClr val="FFFFFF"/>
                </a:solidFill>
                <a:latin typeface="Aptos"/>
              </a:rPr>
              <a:t>Scattered tools</a:t>
            </a:r>
          </a:p>
        </p:txBody>
      </p:sp>
      <p:sp>
        <p:nvSpPr>
          <p:cNvPr id="11" name="TextBox 10"/>
          <p:cNvSpPr txBox="1"/>
          <p:nvPr/>
        </p:nvSpPr>
        <p:spPr>
          <a:xfrm>
            <a:off x="2944368" y="2743200"/>
            <a:ext cx="2834640" cy="310896"/>
          </a:xfrm>
          <a:prstGeom prst="rect">
            <a:avLst/>
          </a:prstGeom>
          <a:noFill/>
        </p:spPr>
        <p:txBody>
          <a:bodyPr wrap="square" lIns="9144" rIns="9144" tIns="9144" bIns="9144" anchor="t">
            <a:spAutoFit/>
          </a:bodyPr>
          <a:lstStyle/>
          <a:p>
            <a:pPr algn="l">
              <a:spcAft>
                <a:spcPts val="0"/>
              </a:spcAft>
            </a:pPr>
            <a:r>
              <a:rPr sz="900" b="0">
                <a:solidFill>
                  <a:srgbClr val="C6D2E3"/>
                </a:solidFill>
                <a:latin typeface="Aptos"/>
              </a:rPr>
              <a:t>Hard to see the next step.</a:t>
            </a:r>
          </a:p>
        </p:txBody>
      </p:sp>
      <p:sp>
        <p:nvSpPr>
          <p:cNvPr id="12" name="Oval 11"/>
          <p:cNvSpPr/>
          <p:nvPr/>
        </p:nvSpPr>
        <p:spPr>
          <a:xfrm>
            <a:off x="749808" y="3419856"/>
            <a:ext cx="201168" cy="201168"/>
          </a:xfrm>
          <a:prstGeom prst="ellipse">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3374136"/>
            <a:ext cx="1965960" cy="237744"/>
          </a:xfrm>
          <a:prstGeom prst="rect">
            <a:avLst/>
          </a:prstGeom>
          <a:noFill/>
        </p:spPr>
        <p:txBody>
          <a:bodyPr wrap="square" lIns="9144" rIns="9144" tIns="9144" bIns="9144" anchor="t">
            <a:spAutoFit/>
          </a:bodyPr>
          <a:lstStyle/>
          <a:p>
            <a:pPr algn="l">
              <a:spcAft>
                <a:spcPts val="0"/>
              </a:spcAft>
            </a:pPr>
            <a:r>
              <a:rPr sz="1100" b="1">
                <a:solidFill>
                  <a:srgbClr val="FFFFFF"/>
                </a:solidFill>
                <a:latin typeface="Aptos"/>
              </a:rPr>
              <a:t>Unclear skill gaps</a:t>
            </a:r>
          </a:p>
        </p:txBody>
      </p:sp>
      <p:sp>
        <p:nvSpPr>
          <p:cNvPr id="14" name="TextBox 13"/>
          <p:cNvSpPr txBox="1"/>
          <p:nvPr/>
        </p:nvSpPr>
        <p:spPr>
          <a:xfrm>
            <a:off x="2944368" y="3374136"/>
            <a:ext cx="2834640" cy="310896"/>
          </a:xfrm>
          <a:prstGeom prst="rect">
            <a:avLst/>
          </a:prstGeom>
          <a:noFill/>
        </p:spPr>
        <p:txBody>
          <a:bodyPr wrap="square" lIns="9144" rIns="9144" tIns="9144" bIns="9144" anchor="t">
            <a:spAutoFit/>
          </a:bodyPr>
          <a:lstStyle/>
          <a:p>
            <a:pPr algn="l">
              <a:spcAft>
                <a:spcPts val="0"/>
              </a:spcAft>
            </a:pPr>
            <a:r>
              <a:rPr sz="900" b="0">
                <a:solidFill>
                  <a:srgbClr val="C6D2E3"/>
                </a:solidFill>
                <a:latin typeface="Aptos"/>
              </a:rPr>
              <a:t>Role requirements can feel abstract.</a:t>
            </a:r>
          </a:p>
        </p:txBody>
      </p:sp>
      <p:sp>
        <p:nvSpPr>
          <p:cNvPr id="15" name="Oval 14"/>
          <p:cNvSpPr/>
          <p:nvPr/>
        </p:nvSpPr>
        <p:spPr>
          <a:xfrm>
            <a:off x="749808" y="4050791"/>
            <a:ext cx="201168" cy="201168"/>
          </a:xfrm>
          <a:prstGeom prst="ellipse">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97280" y="4005072"/>
            <a:ext cx="1965960" cy="237744"/>
          </a:xfrm>
          <a:prstGeom prst="rect">
            <a:avLst/>
          </a:prstGeom>
          <a:noFill/>
        </p:spPr>
        <p:txBody>
          <a:bodyPr wrap="square" lIns="9144" rIns="9144" tIns="9144" bIns="9144" anchor="t">
            <a:spAutoFit/>
          </a:bodyPr>
          <a:lstStyle/>
          <a:p>
            <a:pPr algn="l">
              <a:spcAft>
                <a:spcPts val="0"/>
              </a:spcAft>
            </a:pPr>
            <a:r>
              <a:rPr sz="1100" b="1">
                <a:solidFill>
                  <a:srgbClr val="FFFFFF"/>
                </a:solidFill>
                <a:latin typeface="Aptos"/>
              </a:rPr>
              <a:t>Limited practice</a:t>
            </a:r>
          </a:p>
        </p:txBody>
      </p:sp>
      <p:sp>
        <p:nvSpPr>
          <p:cNvPr id="17" name="TextBox 16"/>
          <p:cNvSpPr txBox="1"/>
          <p:nvPr/>
        </p:nvSpPr>
        <p:spPr>
          <a:xfrm>
            <a:off x="2944368" y="4005072"/>
            <a:ext cx="2834640" cy="310896"/>
          </a:xfrm>
          <a:prstGeom prst="rect">
            <a:avLst/>
          </a:prstGeom>
          <a:noFill/>
        </p:spPr>
        <p:txBody>
          <a:bodyPr wrap="square" lIns="9144" rIns="9144" tIns="9144" bIns="9144" anchor="t">
            <a:spAutoFit/>
          </a:bodyPr>
          <a:lstStyle/>
          <a:p>
            <a:pPr algn="l">
              <a:spcAft>
                <a:spcPts val="0"/>
              </a:spcAft>
            </a:pPr>
            <a:r>
              <a:rPr sz="900" b="0">
                <a:solidFill>
                  <a:srgbClr val="C6D2E3"/>
                </a:solidFill>
                <a:latin typeface="Aptos"/>
              </a:rPr>
              <a:t>Preparation needs a place to rehearse.</a:t>
            </a:r>
          </a:p>
        </p:txBody>
      </p:sp>
      <p:sp>
        <p:nvSpPr>
          <p:cNvPr id="18" name="Oval 17"/>
          <p:cNvSpPr/>
          <p:nvPr/>
        </p:nvSpPr>
        <p:spPr>
          <a:xfrm>
            <a:off x="749808" y="4681728"/>
            <a:ext cx="201168" cy="201168"/>
          </a:xfrm>
          <a:prstGeom prst="ellipse">
            <a:avLst/>
          </a:prstGeom>
          <a:solidFill>
            <a:srgbClr val="8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97280" y="4636008"/>
            <a:ext cx="1965960" cy="237744"/>
          </a:xfrm>
          <a:prstGeom prst="rect">
            <a:avLst/>
          </a:prstGeom>
          <a:noFill/>
        </p:spPr>
        <p:txBody>
          <a:bodyPr wrap="square" lIns="9144" rIns="9144" tIns="9144" bIns="9144" anchor="t">
            <a:spAutoFit/>
          </a:bodyPr>
          <a:lstStyle/>
          <a:p>
            <a:pPr algn="l">
              <a:spcAft>
                <a:spcPts val="0"/>
              </a:spcAft>
            </a:pPr>
            <a:r>
              <a:rPr sz="1100" b="1">
                <a:solidFill>
                  <a:srgbClr val="FFFFFF"/>
                </a:solidFill>
                <a:latin typeface="Aptos"/>
              </a:rPr>
              <a:t>Fragmented progress</a:t>
            </a:r>
          </a:p>
        </p:txBody>
      </p:sp>
      <p:sp>
        <p:nvSpPr>
          <p:cNvPr id="20" name="TextBox 19"/>
          <p:cNvSpPr txBox="1"/>
          <p:nvPr/>
        </p:nvSpPr>
        <p:spPr>
          <a:xfrm>
            <a:off x="2944368" y="4636008"/>
            <a:ext cx="2834640" cy="310896"/>
          </a:xfrm>
          <a:prstGeom prst="rect">
            <a:avLst/>
          </a:prstGeom>
          <a:noFill/>
        </p:spPr>
        <p:txBody>
          <a:bodyPr wrap="square" lIns="9144" rIns="9144" tIns="9144" bIns="9144" anchor="t">
            <a:spAutoFit/>
          </a:bodyPr>
          <a:lstStyle/>
          <a:p>
            <a:pPr algn="l">
              <a:spcAft>
                <a:spcPts val="0"/>
              </a:spcAft>
            </a:pPr>
            <a:r>
              <a:rPr sz="900" b="0">
                <a:solidFill>
                  <a:srgbClr val="C6D2E3"/>
                </a:solidFill>
                <a:latin typeface="Aptos"/>
              </a:rPr>
              <a:t>Learning and opportunity details are separate.</a:t>
            </a:r>
          </a:p>
        </p:txBody>
      </p:sp>
      <p:sp>
        <p:nvSpPr>
          <p:cNvPr id="21" name="Rounded Rectangle 20"/>
          <p:cNvSpPr/>
          <p:nvPr/>
        </p:nvSpPr>
        <p:spPr>
          <a:xfrm>
            <a:off x="6144768" y="1545336"/>
            <a:ext cx="5330952" cy="4233672"/>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28232" y="1810512"/>
            <a:ext cx="4663440" cy="256032"/>
          </a:xfrm>
          <a:prstGeom prst="rect">
            <a:avLst/>
          </a:prstGeom>
          <a:noFill/>
        </p:spPr>
        <p:txBody>
          <a:bodyPr wrap="square" lIns="9144" rIns="9144" tIns="9144" bIns="9144" anchor="t">
            <a:spAutoFit/>
          </a:bodyPr>
          <a:lstStyle/>
          <a:p>
            <a:pPr algn="l">
              <a:spcAft>
                <a:spcPts val="0"/>
              </a:spcAft>
            </a:pPr>
            <a:r>
              <a:rPr sz="1000" b="1">
                <a:solidFill>
                  <a:srgbClr val="26C6B2"/>
                </a:solidFill>
                <a:latin typeface="Aptos"/>
              </a:rPr>
              <a:t>PROJECT OBJECTIVES</a:t>
            </a:r>
          </a:p>
        </p:txBody>
      </p:sp>
      <p:sp>
        <p:nvSpPr>
          <p:cNvPr id="23" name="Oval 22"/>
          <p:cNvSpPr/>
          <p:nvPr/>
        </p:nvSpPr>
        <p:spPr>
          <a:xfrm>
            <a:off x="6437376" y="2286000"/>
            <a:ext cx="310896" cy="310896"/>
          </a:xfrm>
          <a:prstGeom prst="ellipse">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7376" y="2286000"/>
            <a:ext cx="310896" cy="310896"/>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1</a:t>
            </a:r>
          </a:p>
        </p:txBody>
      </p:sp>
      <p:sp>
        <p:nvSpPr>
          <p:cNvPr id="25" name="TextBox 24"/>
          <p:cNvSpPr txBox="1"/>
          <p:nvPr/>
        </p:nvSpPr>
        <p:spPr>
          <a:xfrm>
            <a:off x="6903720" y="2276856"/>
            <a:ext cx="4160520" cy="365760"/>
          </a:xfrm>
          <a:prstGeom prst="rect">
            <a:avLst/>
          </a:prstGeom>
          <a:noFill/>
        </p:spPr>
        <p:txBody>
          <a:bodyPr wrap="square" lIns="9144" rIns="9144" tIns="9144" bIns="9144" anchor="t">
            <a:spAutoFit/>
          </a:bodyPr>
          <a:lstStyle/>
          <a:p>
            <a:pPr algn="l">
              <a:spcAft>
                <a:spcPts val="0"/>
              </a:spcAft>
            </a:pPr>
            <a:r>
              <a:rPr sz="1100" b="0">
                <a:solidFill>
                  <a:srgbClr val="FFFFFF"/>
                </a:solidFill>
                <a:latin typeface="Aptos"/>
              </a:rPr>
              <a:t>Explore career roles and recommendations</a:t>
            </a:r>
          </a:p>
        </p:txBody>
      </p:sp>
      <p:sp>
        <p:nvSpPr>
          <p:cNvPr id="26" name="Oval 25"/>
          <p:cNvSpPr/>
          <p:nvPr/>
        </p:nvSpPr>
        <p:spPr>
          <a:xfrm>
            <a:off x="6437376" y="2898648"/>
            <a:ext cx="310896" cy="310896"/>
          </a:xfrm>
          <a:prstGeom prst="ellipse">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37376" y="2898648"/>
            <a:ext cx="310896" cy="310896"/>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2</a:t>
            </a:r>
          </a:p>
        </p:txBody>
      </p:sp>
      <p:sp>
        <p:nvSpPr>
          <p:cNvPr id="28" name="TextBox 27"/>
          <p:cNvSpPr txBox="1"/>
          <p:nvPr/>
        </p:nvSpPr>
        <p:spPr>
          <a:xfrm>
            <a:off x="6903720" y="2889504"/>
            <a:ext cx="4160520" cy="365760"/>
          </a:xfrm>
          <a:prstGeom prst="rect">
            <a:avLst/>
          </a:prstGeom>
          <a:noFill/>
        </p:spPr>
        <p:txBody>
          <a:bodyPr wrap="square" lIns="9144" rIns="9144" tIns="9144" bIns="9144" anchor="t">
            <a:spAutoFit/>
          </a:bodyPr>
          <a:lstStyle/>
          <a:p>
            <a:pPr algn="l">
              <a:spcAft>
                <a:spcPts val="0"/>
              </a:spcAft>
            </a:pPr>
            <a:r>
              <a:rPr sz="1100" b="0">
                <a:solidFill>
                  <a:srgbClr val="FFFFFF"/>
                </a:solidFill>
                <a:latin typeface="Aptos"/>
              </a:rPr>
              <a:t>Show student skills and areas to improve</a:t>
            </a:r>
          </a:p>
        </p:txBody>
      </p:sp>
      <p:sp>
        <p:nvSpPr>
          <p:cNvPr id="29" name="Oval 28"/>
          <p:cNvSpPr/>
          <p:nvPr/>
        </p:nvSpPr>
        <p:spPr>
          <a:xfrm>
            <a:off x="6437376" y="3511296"/>
            <a:ext cx="310896" cy="310896"/>
          </a:xfrm>
          <a:prstGeom prst="ellipse">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37376" y="3511296"/>
            <a:ext cx="310896" cy="310896"/>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3</a:t>
            </a:r>
          </a:p>
        </p:txBody>
      </p:sp>
      <p:sp>
        <p:nvSpPr>
          <p:cNvPr id="31" name="TextBox 30"/>
          <p:cNvSpPr txBox="1"/>
          <p:nvPr/>
        </p:nvSpPr>
        <p:spPr>
          <a:xfrm>
            <a:off x="6903720" y="3502152"/>
            <a:ext cx="4160520" cy="365760"/>
          </a:xfrm>
          <a:prstGeom prst="rect">
            <a:avLst/>
          </a:prstGeom>
          <a:noFill/>
        </p:spPr>
        <p:txBody>
          <a:bodyPr wrap="square" lIns="9144" rIns="9144" tIns="9144" bIns="9144" anchor="t">
            <a:spAutoFit/>
          </a:bodyPr>
          <a:lstStyle/>
          <a:p>
            <a:pPr algn="l">
              <a:spcAft>
                <a:spcPts val="0"/>
              </a:spcAft>
            </a:pPr>
            <a:r>
              <a:rPr sz="1100" b="0">
                <a:solidFill>
                  <a:srgbClr val="FFFFFF"/>
                </a:solidFill>
                <a:latin typeface="Aptos"/>
              </a:rPr>
              <a:t>Organize role-oriented learning resources</a:t>
            </a:r>
          </a:p>
        </p:txBody>
      </p:sp>
      <p:sp>
        <p:nvSpPr>
          <p:cNvPr id="32" name="Oval 31"/>
          <p:cNvSpPr/>
          <p:nvPr/>
        </p:nvSpPr>
        <p:spPr>
          <a:xfrm>
            <a:off x="6437376" y="4123944"/>
            <a:ext cx="310896" cy="310896"/>
          </a:xfrm>
          <a:prstGeom prst="ellipse">
            <a:avLst/>
          </a:prstGeom>
          <a:solidFill>
            <a:srgbClr val="8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37376" y="4123944"/>
            <a:ext cx="310896" cy="310896"/>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4</a:t>
            </a:r>
          </a:p>
        </p:txBody>
      </p:sp>
      <p:sp>
        <p:nvSpPr>
          <p:cNvPr id="34" name="TextBox 33"/>
          <p:cNvSpPr txBox="1"/>
          <p:nvPr/>
        </p:nvSpPr>
        <p:spPr>
          <a:xfrm>
            <a:off x="6903720" y="4114800"/>
            <a:ext cx="4160520" cy="365760"/>
          </a:xfrm>
          <a:prstGeom prst="rect">
            <a:avLst/>
          </a:prstGeom>
          <a:noFill/>
        </p:spPr>
        <p:txBody>
          <a:bodyPr wrap="square" lIns="9144" rIns="9144" tIns="9144" bIns="9144" anchor="t">
            <a:spAutoFit/>
          </a:bodyPr>
          <a:lstStyle/>
          <a:p>
            <a:pPr algn="l">
              <a:spcAft>
                <a:spcPts val="0"/>
              </a:spcAft>
            </a:pPr>
            <a:r>
              <a:rPr sz="1100" b="0">
                <a:solidFill>
                  <a:srgbClr val="FFFFFF"/>
                </a:solidFill>
                <a:latin typeface="Aptos"/>
              </a:rPr>
              <a:t>Offer assessment and interview-practice screens</a:t>
            </a:r>
          </a:p>
        </p:txBody>
      </p:sp>
      <p:sp>
        <p:nvSpPr>
          <p:cNvPr id="35" name="Oval 34"/>
          <p:cNvSpPr/>
          <p:nvPr/>
        </p:nvSpPr>
        <p:spPr>
          <a:xfrm>
            <a:off x="6437376" y="4736592"/>
            <a:ext cx="310896" cy="310896"/>
          </a:xfrm>
          <a:prstGeom prst="ellipse">
            <a:avLst/>
          </a:prstGeom>
          <a:solidFill>
            <a:srgbClr val="54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37376" y="4736592"/>
            <a:ext cx="310896" cy="310896"/>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5</a:t>
            </a:r>
          </a:p>
        </p:txBody>
      </p:sp>
      <p:sp>
        <p:nvSpPr>
          <p:cNvPr id="37" name="TextBox 36"/>
          <p:cNvSpPr txBox="1"/>
          <p:nvPr/>
        </p:nvSpPr>
        <p:spPr>
          <a:xfrm>
            <a:off x="6903720" y="4727448"/>
            <a:ext cx="4160520" cy="365760"/>
          </a:xfrm>
          <a:prstGeom prst="rect">
            <a:avLst/>
          </a:prstGeom>
          <a:noFill/>
        </p:spPr>
        <p:txBody>
          <a:bodyPr wrap="square" lIns="9144" rIns="9144" tIns="9144" bIns="9144" anchor="t">
            <a:spAutoFit/>
          </a:bodyPr>
          <a:lstStyle/>
          <a:p>
            <a:pPr algn="l">
              <a:spcAft>
                <a:spcPts val="0"/>
              </a:spcAft>
            </a:pPr>
            <a:r>
              <a:rPr sz="1100" b="0">
                <a:solidFill>
                  <a:srgbClr val="FFFFFF"/>
                </a:solidFill>
                <a:latin typeface="Aptos"/>
              </a:rPr>
              <a:t>Bring jobs and placement drives into the journey</a:t>
            </a:r>
          </a:p>
        </p:txBody>
      </p:sp>
      <p:sp>
        <p:nvSpPr>
          <p:cNvPr id="38" name="TextBox 37"/>
          <p:cNvSpPr txBox="1"/>
          <p:nvPr/>
        </p:nvSpPr>
        <p:spPr>
          <a:xfrm>
            <a:off x="749808" y="6007608"/>
            <a:ext cx="2011680" cy="164592"/>
          </a:xfrm>
          <a:prstGeom prst="rect">
            <a:avLst/>
          </a:prstGeom>
          <a:noFill/>
        </p:spPr>
        <p:txBody>
          <a:bodyPr wrap="square" lIns="9144" rIns="9144" tIns="9144" bIns="9144" anchor="t">
            <a:spAutoFit/>
          </a:bodyPr>
          <a:lstStyle/>
          <a:p>
            <a:pPr algn="l">
              <a:spcAft>
                <a:spcPts val="0"/>
              </a:spcAft>
            </a:pPr>
            <a:r>
              <a:rPr sz="800" b="1">
                <a:solidFill>
                  <a:srgbClr val="B9C7DC"/>
                </a:solidFill>
                <a:latin typeface="Aptos"/>
              </a:rPr>
              <a:t>EXISTING APPROACH</a:t>
            </a:r>
          </a:p>
        </p:txBody>
      </p:sp>
      <p:sp>
        <p:nvSpPr>
          <p:cNvPr id="39" name="TextBox 38"/>
          <p:cNvSpPr txBox="1"/>
          <p:nvPr/>
        </p:nvSpPr>
        <p:spPr>
          <a:xfrm>
            <a:off x="2377440" y="5971032"/>
            <a:ext cx="3291840" cy="210312"/>
          </a:xfrm>
          <a:prstGeom prst="rect">
            <a:avLst/>
          </a:prstGeom>
          <a:noFill/>
        </p:spPr>
        <p:txBody>
          <a:bodyPr wrap="square" lIns="9144" rIns="9144" tIns="9144" bIns="9144" anchor="t">
            <a:spAutoFit/>
          </a:bodyPr>
          <a:lstStyle/>
          <a:p>
            <a:pPr algn="l">
              <a:spcAft>
                <a:spcPts val="0"/>
              </a:spcAft>
            </a:pPr>
            <a:r>
              <a:rPr sz="1000" b="0">
                <a:solidFill>
                  <a:srgbClr val="D6DFEB"/>
                </a:solidFill>
                <a:latin typeface="Aptos"/>
              </a:rPr>
              <a:t>separate tools / manual tracking</a:t>
            </a:r>
          </a:p>
        </p:txBody>
      </p:sp>
      <p:sp>
        <p:nvSpPr>
          <p:cNvPr id="40" name="TextBox 39"/>
          <p:cNvSpPr txBox="1"/>
          <p:nvPr/>
        </p:nvSpPr>
        <p:spPr>
          <a:xfrm>
            <a:off x="6144768" y="6007608"/>
            <a:ext cx="1005840" cy="164592"/>
          </a:xfrm>
          <a:prstGeom prst="rect">
            <a:avLst/>
          </a:prstGeom>
          <a:noFill/>
        </p:spPr>
        <p:txBody>
          <a:bodyPr wrap="square" lIns="9144" rIns="9144" tIns="9144" bIns="9144" anchor="t">
            <a:spAutoFit/>
          </a:bodyPr>
          <a:lstStyle/>
          <a:p>
            <a:pPr algn="l">
              <a:spcAft>
                <a:spcPts val="0"/>
              </a:spcAft>
            </a:pPr>
            <a:r>
              <a:rPr sz="800" b="1">
                <a:solidFill>
                  <a:srgbClr val="26C6B2"/>
                </a:solidFill>
                <a:latin typeface="Aptos"/>
              </a:rPr>
              <a:t>PROPOSED</a:t>
            </a:r>
          </a:p>
        </p:txBody>
      </p:sp>
      <p:sp>
        <p:nvSpPr>
          <p:cNvPr id="41" name="TextBox 40"/>
          <p:cNvSpPr txBox="1"/>
          <p:nvPr/>
        </p:nvSpPr>
        <p:spPr>
          <a:xfrm>
            <a:off x="7114032" y="5971032"/>
            <a:ext cx="3566160" cy="210312"/>
          </a:xfrm>
          <a:prstGeom prst="rect">
            <a:avLst/>
          </a:prstGeom>
          <a:noFill/>
        </p:spPr>
        <p:txBody>
          <a:bodyPr wrap="square" lIns="9144" rIns="9144" tIns="9144" bIns="9144" anchor="t">
            <a:spAutoFit/>
          </a:bodyPr>
          <a:lstStyle/>
          <a:p>
            <a:pPr algn="l">
              <a:spcAft>
                <a:spcPts val="0"/>
              </a:spcAft>
            </a:pPr>
            <a:r>
              <a:rPr sz="1000" b="1">
                <a:solidFill>
                  <a:srgbClr val="FFFFFF"/>
                </a:solidFill>
                <a:latin typeface="Aptos"/>
              </a:rPr>
              <a:t>connected CareerNify modules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66928" y="301752"/>
            <a:ext cx="10058400" cy="219456"/>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TOOLS &amp; TECHNOLOGIES USED</a:t>
            </a:r>
          </a:p>
        </p:txBody>
      </p:sp>
      <p:sp>
        <p:nvSpPr>
          <p:cNvPr id="3" name="TextBox 2"/>
          <p:cNvSpPr txBox="1"/>
          <p:nvPr/>
        </p:nvSpPr>
        <p:spPr>
          <a:xfrm>
            <a:off x="566928" y="621792"/>
            <a:ext cx="11064240" cy="530352"/>
          </a:xfrm>
          <a:prstGeom prst="rect">
            <a:avLst/>
          </a:prstGeom>
          <a:noFill/>
        </p:spPr>
        <p:txBody>
          <a:bodyPr wrap="square" lIns="9144" rIns="9144" tIns="9144" bIns="9144" anchor="t">
            <a:spAutoFit/>
          </a:bodyPr>
          <a:lstStyle/>
          <a:p>
            <a:pPr algn="l">
              <a:spcAft>
                <a:spcPts val="0"/>
              </a:spcAft>
            </a:pPr>
            <a:r>
              <a:rPr sz="2500" b="1">
                <a:solidFill>
                  <a:srgbClr val="17233B"/>
                </a:solidFill>
                <a:latin typeface="Aptos"/>
              </a:rPr>
              <a:t>A lightweight web stack with Supabase services</a:t>
            </a:r>
          </a:p>
        </p:txBody>
      </p:sp>
      <p:sp>
        <p:nvSpPr>
          <p:cNvPr id="4" name="Rectangle 3"/>
          <p:cNvSpPr/>
          <p:nvPr/>
        </p:nvSpPr>
        <p:spPr>
          <a:xfrm>
            <a:off x="566928" y="1252728"/>
            <a:ext cx="512064" cy="4114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47104"/>
            <a:ext cx="5486400" cy="146304"/>
          </a:xfrm>
          <a:prstGeom prst="rect">
            <a:avLst/>
          </a:prstGeom>
          <a:noFill/>
        </p:spPr>
        <p:txBody>
          <a:bodyPr wrap="square" lIns="9144" rIns="9144" tIns="9144" bIns="9144" anchor="t">
            <a:spAutoFit/>
          </a:bodyPr>
          <a:lstStyle/>
          <a:p>
            <a:pPr algn="l">
              <a:spcAft>
                <a:spcPts val="0"/>
              </a:spcAft>
            </a:pPr>
            <a:r>
              <a:rPr sz="800" b="1">
                <a:solidFill>
                  <a:srgbClr val="68758D"/>
                </a:solidFill>
                <a:latin typeface="Aptos"/>
              </a:rPr>
              <a:t>CAREERNIFY  /  COLLEGE PROJECT REVIEW</a:t>
            </a:r>
          </a:p>
        </p:txBody>
      </p:sp>
      <p:sp>
        <p:nvSpPr>
          <p:cNvPr id="6" name="TextBox 5"/>
          <p:cNvSpPr txBox="1"/>
          <p:nvPr/>
        </p:nvSpPr>
        <p:spPr>
          <a:xfrm>
            <a:off x="10661904" y="6528816"/>
            <a:ext cx="960120" cy="164592"/>
          </a:xfrm>
          <a:prstGeom prst="rect">
            <a:avLst/>
          </a:prstGeom>
          <a:noFill/>
        </p:spPr>
        <p:txBody>
          <a:bodyPr wrap="square" lIns="9144" rIns="9144" tIns="9144" bIns="9144" anchor="t">
            <a:spAutoFit/>
          </a:bodyPr>
          <a:lstStyle/>
          <a:p>
            <a:pPr algn="r">
              <a:spcAft>
                <a:spcPts val="0"/>
              </a:spcAft>
            </a:pPr>
            <a:r>
              <a:rPr sz="800" b="1">
                <a:solidFill>
                  <a:srgbClr val="68758D"/>
                </a:solidFill>
                <a:latin typeface="Aptos"/>
              </a:rPr>
              <a:t>04 / 09</a:t>
            </a:r>
          </a:p>
        </p:txBody>
      </p:sp>
      <p:sp>
        <p:nvSpPr>
          <p:cNvPr id="7" name="Rounded Rectangle 6"/>
          <p:cNvSpPr/>
          <p:nvPr/>
        </p:nvSpPr>
        <p:spPr>
          <a:xfrm>
            <a:off x="658368" y="1572768"/>
            <a:ext cx="859536" cy="603504"/>
          </a:xfrm>
          <a:prstGeom prst="roundRect">
            <a:avLst>
              <a:gd name="adj" fmla="val 12000"/>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572768"/>
            <a:ext cx="859536" cy="603504"/>
          </a:xfrm>
          <a:prstGeom prst="rect">
            <a:avLst/>
          </a:prstGeom>
          <a:noFill/>
        </p:spPr>
        <p:txBody>
          <a:bodyPr wrap="square" lIns="9144" rIns="9144" tIns="9144" bIns="9144" anchor="ctr">
            <a:spAutoFit/>
          </a:bodyPr>
          <a:lstStyle/>
          <a:p>
            <a:pPr algn="ctr">
              <a:spcAft>
                <a:spcPts val="0"/>
              </a:spcAft>
            </a:pPr>
            <a:r>
              <a:rPr sz="1300" b="1">
                <a:solidFill>
                  <a:srgbClr val="101B35"/>
                </a:solidFill>
                <a:latin typeface="Aptos"/>
              </a:rPr>
              <a:t>HTML</a:t>
            </a:r>
          </a:p>
        </p:txBody>
      </p:sp>
      <p:sp>
        <p:nvSpPr>
          <p:cNvPr id="9" name="TextBox 8"/>
          <p:cNvSpPr txBox="1"/>
          <p:nvPr/>
        </p:nvSpPr>
        <p:spPr>
          <a:xfrm>
            <a:off x="1700784" y="1591056"/>
            <a:ext cx="2514600" cy="292608"/>
          </a:xfrm>
          <a:prstGeom prst="rect">
            <a:avLst/>
          </a:prstGeom>
          <a:noFill/>
        </p:spPr>
        <p:txBody>
          <a:bodyPr wrap="square" lIns="9144" rIns="9144" tIns="9144" bIns="9144" anchor="t">
            <a:spAutoFit/>
          </a:bodyPr>
          <a:lstStyle/>
          <a:p>
            <a:pPr algn="l">
              <a:spcAft>
                <a:spcPts val="0"/>
              </a:spcAft>
            </a:pPr>
            <a:r>
              <a:rPr sz="1500" b="1">
                <a:solidFill>
                  <a:srgbClr val="17233B"/>
                </a:solidFill>
                <a:latin typeface="Aptos"/>
              </a:rPr>
              <a:t>HTML5</a:t>
            </a:r>
          </a:p>
        </p:txBody>
      </p:sp>
      <p:sp>
        <p:nvSpPr>
          <p:cNvPr id="10" name="TextBox 9"/>
          <p:cNvSpPr txBox="1"/>
          <p:nvPr/>
        </p:nvSpPr>
        <p:spPr>
          <a:xfrm>
            <a:off x="1700784" y="1965960"/>
            <a:ext cx="2560320" cy="640080"/>
          </a:xfrm>
          <a:prstGeom prst="rect">
            <a:avLst/>
          </a:prstGeom>
          <a:noFill/>
        </p:spPr>
        <p:txBody>
          <a:bodyPr wrap="square" lIns="9144" rIns="9144" tIns="9144" bIns="9144" anchor="t">
            <a:spAutoFit/>
          </a:bodyPr>
          <a:lstStyle/>
          <a:p>
            <a:pPr algn="l">
              <a:spcAft>
                <a:spcPts val="0"/>
              </a:spcAft>
            </a:pPr>
            <a:r>
              <a:rPr sz="1000" b="0">
                <a:solidFill>
                  <a:srgbClr val="68758D"/>
                </a:solidFill>
                <a:latin typeface="Aptos"/>
              </a:rPr>
              <a:t>Page structure: semantic content, forms and navigation.</a:t>
            </a:r>
          </a:p>
        </p:txBody>
      </p:sp>
      <p:sp>
        <p:nvSpPr>
          <p:cNvPr id="11" name="Rounded Rectangle 10"/>
          <p:cNvSpPr/>
          <p:nvPr/>
        </p:nvSpPr>
        <p:spPr>
          <a:xfrm>
            <a:off x="4480559" y="1572768"/>
            <a:ext cx="859536" cy="603504"/>
          </a:xfrm>
          <a:prstGeom prst="roundRect">
            <a:avLst>
              <a:gd name="adj" fmla="val 12000"/>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59" y="1572768"/>
            <a:ext cx="859536" cy="603504"/>
          </a:xfrm>
          <a:prstGeom prst="rect">
            <a:avLst/>
          </a:prstGeom>
          <a:noFill/>
        </p:spPr>
        <p:txBody>
          <a:bodyPr wrap="square" lIns="9144" rIns="9144" tIns="9144" bIns="9144" anchor="ctr">
            <a:spAutoFit/>
          </a:bodyPr>
          <a:lstStyle/>
          <a:p>
            <a:pPr algn="ctr">
              <a:spcAft>
                <a:spcPts val="0"/>
              </a:spcAft>
            </a:pPr>
            <a:r>
              <a:rPr sz="1300" b="1">
                <a:solidFill>
                  <a:srgbClr val="101B35"/>
                </a:solidFill>
                <a:latin typeface="Aptos"/>
              </a:rPr>
              <a:t>CSS</a:t>
            </a:r>
          </a:p>
        </p:txBody>
      </p:sp>
      <p:sp>
        <p:nvSpPr>
          <p:cNvPr id="13" name="TextBox 12"/>
          <p:cNvSpPr txBox="1"/>
          <p:nvPr/>
        </p:nvSpPr>
        <p:spPr>
          <a:xfrm>
            <a:off x="5522975" y="1591056"/>
            <a:ext cx="2514600" cy="292608"/>
          </a:xfrm>
          <a:prstGeom prst="rect">
            <a:avLst/>
          </a:prstGeom>
          <a:noFill/>
        </p:spPr>
        <p:txBody>
          <a:bodyPr wrap="square" lIns="9144" rIns="9144" tIns="9144" bIns="9144" anchor="t">
            <a:spAutoFit/>
          </a:bodyPr>
          <a:lstStyle/>
          <a:p>
            <a:pPr algn="l">
              <a:spcAft>
                <a:spcPts val="0"/>
              </a:spcAft>
            </a:pPr>
            <a:r>
              <a:rPr sz="1500" b="1">
                <a:solidFill>
                  <a:srgbClr val="17233B"/>
                </a:solidFill>
                <a:latin typeface="Aptos"/>
              </a:rPr>
              <a:t>CSS3</a:t>
            </a:r>
          </a:p>
        </p:txBody>
      </p:sp>
      <p:sp>
        <p:nvSpPr>
          <p:cNvPr id="14" name="TextBox 13"/>
          <p:cNvSpPr txBox="1"/>
          <p:nvPr/>
        </p:nvSpPr>
        <p:spPr>
          <a:xfrm>
            <a:off x="5522975" y="1965960"/>
            <a:ext cx="2560320" cy="640080"/>
          </a:xfrm>
          <a:prstGeom prst="rect">
            <a:avLst/>
          </a:prstGeom>
          <a:noFill/>
        </p:spPr>
        <p:txBody>
          <a:bodyPr wrap="square" lIns="9144" rIns="9144" tIns="9144" bIns="9144" anchor="t">
            <a:spAutoFit/>
          </a:bodyPr>
          <a:lstStyle/>
          <a:p>
            <a:pPr algn="l">
              <a:spcAft>
                <a:spcPts val="0"/>
              </a:spcAft>
            </a:pPr>
            <a:r>
              <a:rPr sz="1000" b="0">
                <a:solidFill>
                  <a:srgbClr val="68758D"/>
                </a:solidFill>
                <a:latin typeface="Aptos"/>
              </a:rPr>
              <a:t>Visual design: layout, shared styles and responsive rules.</a:t>
            </a:r>
          </a:p>
        </p:txBody>
      </p:sp>
      <p:sp>
        <p:nvSpPr>
          <p:cNvPr id="15" name="Rounded Rectangle 14"/>
          <p:cNvSpPr/>
          <p:nvPr/>
        </p:nvSpPr>
        <p:spPr>
          <a:xfrm>
            <a:off x="658368" y="2880360"/>
            <a:ext cx="859536" cy="603504"/>
          </a:xfrm>
          <a:prstGeom prst="roundRect">
            <a:avLst>
              <a:gd name="adj" fmla="val 12000"/>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2880360"/>
            <a:ext cx="859536" cy="603504"/>
          </a:xfrm>
          <a:prstGeom prst="rect">
            <a:avLst/>
          </a:prstGeom>
          <a:noFill/>
        </p:spPr>
        <p:txBody>
          <a:bodyPr wrap="square" lIns="9144" rIns="9144" tIns="9144" bIns="9144" anchor="ctr">
            <a:spAutoFit/>
          </a:bodyPr>
          <a:lstStyle/>
          <a:p>
            <a:pPr algn="ctr">
              <a:spcAft>
                <a:spcPts val="0"/>
              </a:spcAft>
            </a:pPr>
            <a:r>
              <a:rPr sz="1300" b="1">
                <a:solidFill>
                  <a:srgbClr val="101B35"/>
                </a:solidFill>
                <a:latin typeface="Aptos"/>
              </a:rPr>
              <a:t>JS</a:t>
            </a:r>
          </a:p>
        </p:txBody>
      </p:sp>
      <p:sp>
        <p:nvSpPr>
          <p:cNvPr id="17" name="TextBox 16"/>
          <p:cNvSpPr txBox="1"/>
          <p:nvPr/>
        </p:nvSpPr>
        <p:spPr>
          <a:xfrm>
            <a:off x="1700784" y="2898648"/>
            <a:ext cx="2514600" cy="292608"/>
          </a:xfrm>
          <a:prstGeom prst="rect">
            <a:avLst/>
          </a:prstGeom>
          <a:noFill/>
        </p:spPr>
        <p:txBody>
          <a:bodyPr wrap="square" lIns="9144" rIns="9144" tIns="9144" bIns="9144" anchor="t">
            <a:spAutoFit/>
          </a:bodyPr>
          <a:lstStyle/>
          <a:p>
            <a:pPr algn="l">
              <a:spcAft>
                <a:spcPts val="0"/>
              </a:spcAft>
            </a:pPr>
            <a:r>
              <a:rPr sz="1500" b="1">
                <a:solidFill>
                  <a:srgbClr val="17233B"/>
                </a:solidFill>
                <a:latin typeface="Aptos"/>
              </a:rPr>
              <a:t>JavaScript</a:t>
            </a:r>
          </a:p>
        </p:txBody>
      </p:sp>
      <p:sp>
        <p:nvSpPr>
          <p:cNvPr id="18" name="TextBox 17"/>
          <p:cNvSpPr txBox="1"/>
          <p:nvPr/>
        </p:nvSpPr>
        <p:spPr>
          <a:xfrm>
            <a:off x="1700784" y="3273552"/>
            <a:ext cx="2560320" cy="640080"/>
          </a:xfrm>
          <a:prstGeom prst="rect">
            <a:avLst/>
          </a:prstGeom>
          <a:noFill/>
        </p:spPr>
        <p:txBody>
          <a:bodyPr wrap="square" lIns="9144" rIns="9144" tIns="9144" bIns="9144" anchor="t">
            <a:spAutoFit/>
          </a:bodyPr>
          <a:lstStyle/>
          <a:p>
            <a:pPr algn="l">
              <a:spcAft>
                <a:spcPts val="0"/>
              </a:spcAft>
            </a:pPr>
            <a:r>
              <a:rPr sz="1000" b="0">
                <a:solidFill>
                  <a:srgbClr val="68758D"/>
                </a:solidFill>
                <a:latin typeface="Aptos"/>
              </a:rPr>
              <a:t>Client behavior and Supabase integration modules.</a:t>
            </a:r>
          </a:p>
        </p:txBody>
      </p:sp>
      <p:sp>
        <p:nvSpPr>
          <p:cNvPr id="19" name="Rounded Rectangle 18"/>
          <p:cNvSpPr/>
          <p:nvPr/>
        </p:nvSpPr>
        <p:spPr>
          <a:xfrm>
            <a:off x="4480559" y="2880360"/>
            <a:ext cx="859536" cy="603504"/>
          </a:xfrm>
          <a:prstGeom prst="roundRect">
            <a:avLst>
              <a:gd name="adj" fmla="val 12000"/>
            </a:avLst>
          </a:prstGeom>
          <a:solidFill>
            <a:srgbClr val="8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80559" y="2880360"/>
            <a:ext cx="859536" cy="603504"/>
          </a:xfrm>
          <a:prstGeom prst="rect">
            <a:avLst/>
          </a:prstGeom>
          <a:noFill/>
        </p:spPr>
        <p:txBody>
          <a:bodyPr wrap="square" lIns="9144" rIns="9144" tIns="9144" bIns="9144" anchor="ctr">
            <a:spAutoFit/>
          </a:bodyPr>
          <a:lstStyle/>
          <a:p>
            <a:pPr algn="ctr">
              <a:spcAft>
                <a:spcPts val="0"/>
              </a:spcAft>
            </a:pPr>
            <a:r>
              <a:rPr sz="1300" b="1">
                <a:solidFill>
                  <a:srgbClr val="101B35"/>
                </a:solidFill>
                <a:latin typeface="Aptos"/>
              </a:rPr>
              <a:t>SB</a:t>
            </a:r>
          </a:p>
        </p:txBody>
      </p:sp>
      <p:sp>
        <p:nvSpPr>
          <p:cNvPr id="21" name="TextBox 20"/>
          <p:cNvSpPr txBox="1"/>
          <p:nvPr/>
        </p:nvSpPr>
        <p:spPr>
          <a:xfrm>
            <a:off x="5522975" y="2898648"/>
            <a:ext cx="2514600" cy="292608"/>
          </a:xfrm>
          <a:prstGeom prst="rect">
            <a:avLst/>
          </a:prstGeom>
          <a:noFill/>
        </p:spPr>
        <p:txBody>
          <a:bodyPr wrap="square" lIns="9144" rIns="9144" tIns="9144" bIns="9144" anchor="t">
            <a:spAutoFit/>
          </a:bodyPr>
          <a:lstStyle/>
          <a:p>
            <a:pPr algn="l">
              <a:spcAft>
                <a:spcPts val="0"/>
              </a:spcAft>
            </a:pPr>
            <a:r>
              <a:rPr sz="1500" b="1">
                <a:solidFill>
                  <a:srgbClr val="17233B"/>
                </a:solidFill>
                <a:latin typeface="Aptos"/>
              </a:rPr>
              <a:t>Supabase</a:t>
            </a:r>
          </a:p>
        </p:txBody>
      </p:sp>
      <p:sp>
        <p:nvSpPr>
          <p:cNvPr id="22" name="TextBox 21"/>
          <p:cNvSpPr txBox="1"/>
          <p:nvPr/>
        </p:nvSpPr>
        <p:spPr>
          <a:xfrm>
            <a:off x="5522975" y="3273552"/>
            <a:ext cx="2560320" cy="640080"/>
          </a:xfrm>
          <a:prstGeom prst="rect">
            <a:avLst/>
          </a:prstGeom>
          <a:noFill/>
        </p:spPr>
        <p:txBody>
          <a:bodyPr wrap="square" lIns="9144" rIns="9144" tIns="9144" bIns="9144" anchor="t">
            <a:spAutoFit/>
          </a:bodyPr>
          <a:lstStyle/>
          <a:p>
            <a:pPr algn="l">
              <a:spcAft>
                <a:spcPts val="0"/>
              </a:spcAft>
            </a:pPr>
            <a:r>
              <a:rPr sz="1000" b="0">
                <a:solidFill>
                  <a:srgbClr val="68758D"/>
                </a:solidFill>
                <a:latin typeface="Aptos"/>
              </a:rPr>
              <a:t>Auth, Postgres data and private-storage integration in source.</a:t>
            </a:r>
          </a:p>
        </p:txBody>
      </p:sp>
      <p:sp>
        <p:nvSpPr>
          <p:cNvPr id="23" name="Rounded Rectangle 22"/>
          <p:cNvSpPr/>
          <p:nvPr/>
        </p:nvSpPr>
        <p:spPr>
          <a:xfrm>
            <a:off x="8412480" y="1554480"/>
            <a:ext cx="3054096" cy="2779776"/>
          </a:xfrm>
          <a:prstGeom prst="roundRect">
            <a:avLst>
              <a:gd name="adj" fmla="val 12000"/>
            </a:avLst>
          </a:prstGeom>
          <a:solidFill>
            <a:srgbClr val="10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705088" y="1837943"/>
            <a:ext cx="2468880" cy="237744"/>
          </a:xfrm>
          <a:prstGeom prst="rect">
            <a:avLst/>
          </a:prstGeom>
          <a:noFill/>
        </p:spPr>
        <p:txBody>
          <a:bodyPr wrap="square" lIns="9144" rIns="9144" tIns="9144" bIns="9144" anchor="t">
            <a:spAutoFit/>
          </a:bodyPr>
          <a:lstStyle/>
          <a:p>
            <a:pPr algn="l">
              <a:spcAft>
                <a:spcPts val="0"/>
              </a:spcAft>
            </a:pPr>
            <a:r>
              <a:rPr sz="1000" b="1">
                <a:solidFill>
                  <a:srgbClr val="26C6B2"/>
                </a:solidFill>
                <a:latin typeface="Aptos"/>
              </a:rPr>
              <a:t>BUILD &amp; RUN</a:t>
            </a:r>
          </a:p>
        </p:txBody>
      </p:sp>
      <p:sp>
        <p:nvSpPr>
          <p:cNvPr id="25" name="TextBox 24"/>
          <p:cNvSpPr txBox="1"/>
          <p:nvPr/>
        </p:nvSpPr>
        <p:spPr>
          <a:xfrm>
            <a:off x="8705088" y="2331720"/>
            <a:ext cx="2487168" cy="274320"/>
          </a:xfrm>
          <a:prstGeom prst="rect">
            <a:avLst/>
          </a:prstGeom>
          <a:noFill/>
        </p:spPr>
        <p:txBody>
          <a:bodyPr wrap="square" lIns="9144" rIns="9144" tIns="9144" bIns="9144" anchor="t">
            <a:spAutoFit/>
          </a:bodyPr>
          <a:lstStyle/>
          <a:p>
            <a:pPr algn="l">
              <a:spcAft>
                <a:spcPts val="0"/>
              </a:spcAft>
            </a:pPr>
            <a:r>
              <a:rPr sz="1300" b="1">
                <a:solidFill>
                  <a:srgbClr val="FFFFFF"/>
                </a:solidFill>
                <a:latin typeface="Aptos"/>
              </a:rPr>
              <a:t>Visual Studio Code</a:t>
            </a:r>
          </a:p>
        </p:txBody>
      </p:sp>
      <p:sp>
        <p:nvSpPr>
          <p:cNvPr id="26" name="TextBox 25"/>
          <p:cNvSpPr txBox="1"/>
          <p:nvPr/>
        </p:nvSpPr>
        <p:spPr>
          <a:xfrm>
            <a:off x="8705088" y="2633472"/>
            <a:ext cx="2487168" cy="210312"/>
          </a:xfrm>
          <a:prstGeom prst="rect">
            <a:avLst/>
          </a:prstGeom>
          <a:noFill/>
        </p:spPr>
        <p:txBody>
          <a:bodyPr wrap="square" lIns="9144" rIns="9144" tIns="9144" bIns="9144" anchor="t">
            <a:spAutoFit/>
          </a:bodyPr>
          <a:lstStyle/>
          <a:p>
            <a:pPr algn="l">
              <a:spcAft>
                <a:spcPts val="0"/>
              </a:spcAft>
            </a:pPr>
            <a:r>
              <a:rPr sz="900" b="0">
                <a:solidFill>
                  <a:srgbClr val="C4D0E2"/>
                </a:solidFill>
                <a:latin typeface="Aptos"/>
              </a:rPr>
              <a:t>Project code editor</a:t>
            </a:r>
          </a:p>
        </p:txBody>
      </p:sp>
      <p:sp>
        <p:nvSpPr>
          <p:cNvPr id="27" name="TextBox 26"/>
          <p:cNvSpPr txBox="1"/>
          <p:nvPr/>
        </p:nvSpPr>
        <p:spPr>
          <a:xfrm>
            <a:off x="8705088" y="3172968"/>
            <a:ext cx="2487168" cy="274320"/>
          </a:xfrm>
          <a:prstGeom prst="rect">
            <a:avLst/>
          </a:prstGeom>
          <a:noFill/>
        </p:spPr>
        <p:txBody>
          <a:bodyPr wrap="square" lIns="9144" rIns="9144" tIns="9144" bIns="9144" anchor="t">
            <a:spAutoFit/>
          </a:bodyPr>
          <a:lstStyle/>
          <a:p>
            <a:pPr algn="l">
              <a:spcAft>
                <a:spcPts val="0"/>
              </a:spcAft>
            </a:pPr>
            <a:r>
              <a:rPr sz="1300" b="1">
                <a:solidFill>
                  <a:srgbClr val="FFFFFF"/>
                </a:solidFill>
                <a:latin typeface="Aptos"/>
              </a:rPr>
              <a:t>Web browser</a:t>
            </a:r>
          </a:p>
        </p:txBody>
      </p:sp>
      <p:sp>
        <p:nvSpPr>
          <p:cNvPr id="28" name="TextBox 27"/>
          <p:cNvSpPr txBox="1"/>
          <p:nvPr/>
        </p:nvSpPr>
        <p:spPr>
          <a:xfrm>
            <a:off x="8705088" y="3474720"/>
            <a:ext cx="2487168" cy="411480"/>
          </a:xfrm>
          <a:prstGeom prst="rect">
            <a:avLst/>
          </a:prstGeom>
          <a:noFill/>
        </p:spPr>
        <p:txBody>
          <a:bodyPr wrap="square" lIns="9144" rIns="9144" tIns="9144" bIns="9144" anchor="t">
            <a:spAutoFit/>
          </a:bodyPr>
          <a:lstStyle/>
          <a:p>
            <a:pPr algn="l">
              <a:spcAft>
                <a:spcPts val="0"/>
              </a:spcAft>
            </a:pPr>
            <a:r>
              <a:rPr sz="900" b="0">
                <a:solidFill>
                  <a:srgbClr val="C4D0E2"/>
                </a:solidFill>
                <a:latin typeface="Aptos"/>
              </a:rPr>
              <a:t>Microsoft Edge used for local review</a:t>
            </a:r>
          </a:p>
        </p:txBody>
      </p:sp>
      <p:sp>
        <p:nvSpPr>
          <p:cNvPr id="29" name="Rounded Rectangle 28"/>
          <p:cNvSpPr/>
          <p:nvPr/>
        </p:nvSpPr>
        <p:spPr>
          <a:xfrm>
            <a:off x="658368" y="4453128"/>
            <a:ext cx="10808208" cy="1078992"/>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645152"/>
            <a:ext cx="1920240" cy="201168"/>
          </a:xfrm>
          <a:prstGeom prst="rect">
            <a:avLst/>
          </a:prstGeom>
          <a:noFill/>
        </p:spPr>
        <p:txBody>
          <a:bodyPr wrap="square" lIns="9144" rIns="9144" tIns="9144" bIns="9144" anchor="t">
            <a:spAutoFit/>
          </a:bodyPr>
          <a:lstStyle/>
          <a:p>
            <a:pPr algn="l">
              <a:spcAft>
                <a:spcPts val="0"/>
              </a:spcAft>
            </a:pPr>
            <a:r>
              <a:rPr sz="900" b="1">
                <a:solidFill>
                  <a:srgbClr val="68758D"/>
                </a:solidFill>
                <a:latin typeface="Aptos"/>
              </a:rPr>
              <a:t>STACK AT A GLANCE</a:t>
            </a:r>
          </a:p>
        </p:txBody>
      </p:sp>
      <p:sp>
        <p:nvSpPr>
          <p:cNvPr id="31" name="Rounded Rectangle 30"/>
          <p:cNvSpPr/>
          <p:nvPr/>
        </p:nvSpPr>
        <p:spPr>
          <a:xfrm>
            <a:off x="2788920" y="4690872"/>
            <a:ext cx="1417320" cy="438912"/>
          </a:xfrm>
          <a:prstGeom prst="roundRect">
            <a:avLst>
              <a:gd name="adj" fmla="val 12000"/>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788920" y="4690872"/>
            <a:ext cx="1417320" cy="438912"/>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HTML5</a:t>
            </a:r>
          </a:p>
        </p:txBody>
      </p:sp>
      <p:sp>
        <p:nvSpPr>
          <p:cNvPr id="33" name="Rounded Rectangle 32"/>
          <p:cNvSpPr/>
          <p:nvPr/>
        </p:nvSpPr>
        <p:spPr>
          <a:xfrm>
            <a:off x="4416552" y="4690872"/>
            <a:ext cx="1417320" cy="438912"/>
          </a:xfrm>
          <a:prstGeom prst="roundRect">
            <a:avLst>
              <a:gd name="adj" fmla="val 12000"/>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416552" y="4690872"/>
            <a:ext cx="1417320" cy="438912"/>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CSS3</a:t>
            </a:r>
          </a:p>
        </p:txBody>
      </p:sp>
      <p:sp>
        <p:nvSpPr>
          <p:cNvPr id="35" name="Rounded Rectangle 34"/>
          <p:cNvSpPr/>
          <p:nvPr/>
        </p:nvSpPr>
        <p:spPr>
          <a:xfrm>
            <a:off x="6044183" y="4690872"/>
            <a:ext cx="1417320" cy="438912"/>
          </a:xfrm>
          <a:prstGeom prst="roundRect">
            <a:avLst>
              <a:gd name="adj" fmla="val 12000"/>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44183" y="4690872"/>
            <a:ext cx="1417320" cy="438912"/>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JavaScript</a:t>
            </a:r>
          </a:p>
        </p:txBody>
      </p:sp>
      <p:sp>
        <p:nvSpPr>
          <p:cNvPr id="37" name="Rounded Rectangle 36"/>
          <p:cNvSpPr/>
          <p:nvPr/>
        </p:nvSpPr>
        <p:spPr>
          <a:xfrm>
            <a:off x="7671816" y="4690872"/>
            <a:ext cx="1417320" cy="438912"/>
          </a:xfrm>
          <a:prstGeom prst="roundRect">
            <a:avLst>
              <a:gd name="adj" fmla="val 12000"/>
            </a:avLst>
          </a:prstGeom>
          <a:solidFill>
            <a:srgbClr val="8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671816" y="4690872"/>
            <a:ext cx="1417320" cy="438912"/>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Supabase</a:t>
            </a:r>
          </a:p>
        </p:txBody>
      </p:sp>
      <p:sp>
        <p:nvSpPr>
          <p:cNvPr id="39" name="Rounded Rectangle 38"/>
          <p:cNvSpPr/>
          <p:nvPr/>
        </p:nvSpPr>
        <p:spPr>
          <a:xfrm>
            <a:off x="9299448" y="4690872"/>
            <a:ext cx="1417320" cy="438912"/>
          </a:xfrm>
          <a:prstGeom prst="roundRect">
            <a:avLst>
              <a:gd name="adj" fmla="val 12000"/>
            </a:avLst>
          </a:prstGeom>
          <a:solidFill>
            <a:srgbClr val="9BE7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299448" y="4690872"/>
            <a:ext cx="1417320" cy="438912"/>
          </a:xfrm>
          <a:prstGeom prst="rect">
            <a:avLst/>
          </a:prstGeom>
          <a:noFill/>
        </p:spPr>
        <p:txBody>
          <a:bodyPr wrap="square" lIns="9144" rIns="9144" tIns="9144" bIns="9144" anchor="ctr">
            <a:spAutoFit/>
          </a:bodyPr>
          <a:lstStyle/>
          <a:p>
            <a:pPr algn="ctr">
              <a:spcAft>
                <a:spcPts val="0"/>
              </a:spcAft>
            </a:pPr>
            <a:r>
              <a:rPr sz="900" b="1">
                <a:solidFill>
                  <a:srgbClr val="101B35"/>
                </a:solidFill>
                <a:latin typeface="Aptos"/>
              </a:rPr>
              <a:t>PostgreSQL</a:t>
            </a:r>
          </a:p>
        </p:txBody>
      </p:sp>
      <p:sp>
        <p:nvSpPr>
          <p:cNvPr id="41" name="TextBox 40"/>
          <p:cNvSpPr txBox="1"/>
          <p:nvPr/>
        </p:nvSpPr>
        <p:spPr>
          <a:xfrm>
            <a:off x="749808" y="5806440"/>
            <a:ext cx="10652760" cy="274320"/>
          </a:xfrm>
          <a:prstGeom prst="rect">
            <a:avLst/>
          </a:prstGeom>
          <a:noFill/>
        </p:spPr>
        <p:txBody>
          <a:bodyPr wrap="square" lIns="9144" rIns="9144" tIns="9144" bIns="9144" anchor="t">
            <a:spAutoFit/>
          </a:bodyPr>
          <a:lstStyle/>
          <a:p>
            <a:pPr algn="ctr">
              <a:spcAft>
                <a:spcPts val="0"/>
              </a:spcAft>
            </a:pPr>
            <a:r>
              <a:rPr sz="900" b="0">
                <a:solidFill>
                  <a:srgbClr val="68758D"/>
                </a:solidFill>
                <a:latin typeface="Aptos"/>
              </a:rPr>
              <a:t>Git / GitHub are not listed: no Git repository is present in the provided workspace.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01B35"/>
        </a:solidFill>
        <a:effectLst/>
      </p:bgPr>
    </p:bg>
    <p:spTree>
      <p:nvGrpSpPr>
        <p:cNvPr id="1" name=""/>
        <p:cNvGrpSpPr/>
        <p:nvPr/>
      </p:nvGrpSpPr>
      <p:grpSpPr/>
      <p:sp>
        <p:nvSpPr>
          <p:cNvPr id="2" name="TextBox 1"/>
          <p:cNvSpPr txBox="1"/>
          <p:nvPr/>
        </p:nvSpPr>
        <p:spPr>
          <a:xfrm>
            <a:off x="566928" y="301752"/>
            <a:ext cx="10058400" cy="219456"/>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SYSTEM ARCHITECTURE &amp; WORKFLOW</a:t>
            </a:r>
          </a:p>
        </p:txBody>
      </p:sp>
      <p:sp>
        <p:nvSpPr>
          <p:cNvPr id="3" name="TextBox 2"/>
          <p:cNvSpPr txBox="1"/>
          <p:nvPr/>
        </p:nvSpPr>
        <p:spPr>
          <a:xfrm>
            <a:off x="566928" y="621792"/>
            <a:ext cx="11064240" cy="530352"/>
          </a:xfrm>
          <a:prstGeom prst="rect">
            <a:avLst/>
          </a:prstGeom>
          <a:noFill/>
        </p:spPr>
        <p:txBody>
          <a:bodyPr wrap="square" lIns="9144" rIns="9144" tIns="9144" bIns="9144" anchor="t">
            <a:spAutoFit/>
          </a:bodyPr>
          <a:lstStyle/>
          <a:p>
            <a:pPr algn="l">
              <a:spcAft>
                <a:spcPts val="0"/>
              </a:spcAft>
            </a:pPr>
            <a:r>
              <a:rPr sz="2500" b="1">
                <a:solidFill>
                  <a:srgbClr val="FFFFFF"/>
                </a:solidFill>
                <a:latin typeface="Aptos"/>
              </a:rPr>
              <a:t>The browser UI calls Supabase; the database returns data</a:t>
            </a:r>
          </a:p>
        </p:txBody>
      </p:sp>
      <p:sp>
        <p:nvSpPr>
          <p:cNvPr id="4" name="Rectangle 3"/>
          <p:cNvSpPr/>
          <p:nvPr/>
        </p:nvSpPr>
        <p:spPr>
          <a:xfrm>
            <a:off x="566928" y="1252728"/>
            <a:ext cx="512064" cy="4114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47104"/>
            <a:ext cx="5486400" cy="146304"/>
          </a:xfrm>
          <a:prstGeom prst="rect">
            <a:avLst/>
          </a:prstGeom>
          <a:noFill/>
        </p:spPr>
        <p:txBody>
          <a:bodyPr wrap="square" lIns="9144" rIns="9144" tIns="9144" bIns="9144" anchor="t">
            <a:spAutoFit/>
          </a:bodyPr>
          <a:lstStyle/>
          <a:p>
            <a:pPr algn="l">
              <a:spcAft>
                <a:spcPts val="0"/>
              </a:spcAft>
            </a:pPr>
            <a:r>
              <a:rPr sz="800" b="1">
                <a:solidFill>
                  <a:srgbClr val="C8D3E4"/>
                </a:solidFill>
                <a:latin typeface="Aptos"/>
              </a:rPr>
              <a:t>CAREERNIFY  /  COLLEGE PROJECT REVIEW</a:t>
            </a:r>
          </a:p>
        </p:txBody>
      </p:sp>
      <p:sp>
        <p:nvSpPr>
          <p:cNvPr id="6" name="TextBox 5"/>
          <p:cNvSpPr txBox="1"/>
          <p:nvPr/>
        </p:nvSpPr>
        <p:spPr>
          <a:xfrm>
            <a:off x="10661904" y="6528816"/>
            <a:ext cx="960120" cy="164592"/>
          </a:xfrm>
          <a:prstGeom prst="rect">
            <a:avLst/>
          </a:prstGeom>
          <a:noFill/>
        </p:spPr>
        <p:txBody>
          <a:bodyPr wrap="square" lIns="9144" rIns="9144" tIns="9144" bIns="9144" anchor="t">
            <a:spAutoFit/>
          </a:bodyPr>
          <a:lstStyle/>
          <a:p>
            <a:pPr algn="r">
              <a:spcAft>
                <a:spcPts val="0"/>
              </a:spcAft>
            </a:pPr>
            <a:r>
              <a:rPr sz="800" b="1">
                <a:solidFill>
                  <a:srgbClr val="C8D3E4"/>
                </a:solidFill>
                <a:latin typeface="Aptos"/>
              </a:rPr>
              <a:t>05 / 09</a:t>
            </a:r>
          </a:p>
        </p:txBody>
      </p:sp>
      <p:sp>
        <p:nvSpPr>
          <p:cNvPr id="7" name="TextBox 6"/>
          <p:cNvSpPr txBox="1"/>
          <p:nvPr/>
        </p:nvSpPr>
        <p:spPr>
          <a:xfrm>
            <a:off x="694944" y="1481328"/>
            <a:ext cx="4572000" cy="201168"/>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SIMPLIFIED REQUEST / RESPONSE FLOW</a:t>
            </a:r>
          </a:p>
        </p:txBody>
      </p:sp>
      <p:sp>
        <p:nvSpPr>
          <p:cNvPr id="8" name="Rounded Rectangle 7"/>
          <p:cNvSpPr/>
          <p:nvPr/>
        </p:nvSpPr>
        <p:spPr>
          <a:xfrm>
            <a:off x="640080" y="1993392"/>
            <a:ext cx="1865376" cy="914400"/>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19" y="2148840"/>
            <a:ext cx="1682496" cy="210312"/>
          </a:xfrm>
          <a:prstGeom prst="rect">
            <a:avLst/>
          </a:prstGeom>
          <a:noFill/>
        </p:spPr>
        <p:txBody>
          <a:bodyPr wrap="square" lIns="9144" rIns="9144" tIns="9144" bIns="9144" anchor="t">
            <a:spAutoFit/>
          </a:bodyPr>
          <a:lstStyle/>
          <a:p>
            <a:pPr algn="ctr">
              <a:spcAft>
                <a:spcPts val="0"/>
              </a:spcAft>
            </a:pPr>
            <a:r>
              <a:rPr sz="900" b="1">
                <a:solidFill>
                  <a:srgbClr val="26C6B2"/>
                </a:solidFill>
                <a:latin typeface="Aptos"/>
              </a:rPr>
              <a:t>1  USER</a:t>
            </a:r>
          </a:p>
        </p:txBody>
      </p:sp>
      <p:sp>
        <p:nvSpPr>
          <p:cNvPr id="10" name="TextBox 9"/>
          <p:cNvSpPr txBox="1"/>
          <p:nvPr/>
        </p:nvSpPr>
        <p:spPr>
          <a:xfrm>
            <a:off x="713231" y="2459736"/>
            <a:ext cx="1719072" cy="246888"/>
          </a:xfrm>
          <a:prstGeom prst="rect">
            <a:avLst/>
          </a:prstGeom>
          <a:noFill/>
        </p:spPr>
        <p:txBody>
          <a:bodyPr wrap="square" lIns="9144" rIns="9144" tIns="9144" bIns="9144" anchor="t">
            <a:spAutoFit/>
          </a:bodyPr>
          <a:lstStyle/>
          <a:p>
            <a:pPr algn="ctr">
              <a:spcAft>
                <a:spcPts val="0"/>
              </a:spcAft>
            </a:pPr>
            <a:r>
              <a:rPr sz="900" b="0">
                <a:solidFill>
                  <a:srgbClr val="FFFFFF"/>
                </a:solidFill>
                <a:latin typeface="Aptos"/>
              </a:rPr>
              <a:t>Student / admin</a:t>
            </a:r>
          </a:p>
        </p:txBody>
      </p:sp>
      <p:sp>
        <p:nvSpPr>
          <p:cNvPr id="11" name="Rounded Rectangle 10"/>
          <p:cNvSpPr/>
          <p:nvPr/>
        </p:nvSpPr>
        <p:spPr>
          <a:xfrm>
            <a:off x="2852928" y="1993392"/>
            <a:ext cx="2057400" cy="914400"/>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44368" y="2148840"/>
            <a:ext cx="1874519" cy="210312"/>
          </a:xfrm>
          <a:prstGeom prst="rect">
            <a:avLst/>
          </a:prstGeom>
          <a:noFill/>
        </p:spPr>
        <p:txBody>
          <a:bodyPr wrap="square" lIns="9144" rIns="9144" tIns="9144" bIns="9144" anchor="t">
            <a:spAutoFit/>
          </a:bodyPr>
          <a:lstStyle/>
          <a:p>
            <a:pPr algn="ctr">
              <a:spcAft>
                <a:spcPts val="0"/>
              </a:spcAft>
            </a:pPr>
            <a:r>
              <a:rPr sz="900" b="1">
                <a:solidFill>
                  <a:srgbClr val="5278F5"/>
                </a:solidFill>
                <a:latin typeface="Aptos"/>
              </a:rPr>
              <a:t>2  WEB UI</a:t>
            </a:r>
          </a:p>
        </p:txBody>
      </p:sp>
      <p:sp>
        <p:nvSpPr>
          <p:cNvPr id="13" name="TextBox 12"/>
          <p:cNvSpPr txBox="1"/>
          <p:nvPr/>
        </p:nvSpPr>
        <p:spPr>
          <a:xfrm>
            <a:off x="2926080" y="2459736"/>
            <a:ext cx="1911095" cy="246888"/>
          </a:xfrm>
          <a:prstGeom prst="rect">
            <a:avLst/>
          </a:prstGeom>
          <a:noFill/>
        </p:spPr>
        <p:txBody>
          <a:bodyPr wrap="square" lIns="9144" rIns="9144" tIns="9144" bIns="9144" anchor="t">
            <a:spAutoFit/>
          </a:bodyPr>
          <a:lstStyle/>
          <a:p>
            <a:pPr algn="ctr">
              <a:spcAft>
                <a:spcPts val="0"/>
              </a:spcAft>
            </a:pPr>
            <a:r>
              <a:rPr sz="900" b="0">
                <a:solidFill>
                  <a:srgbClr val="FFFFFF"/>
                </a:solidFill>
                <a:latin typeface="Aptos"/>
              </a:rPr>
              <a:t>HTML + CSS pages</a:t>
            </a:r>
          </a:p>
        </p:txBody>
      </p:sp>
      <p:sp>
        <p:nvSpPr>
          <p:cNvPr id="14" name="Rounded Rectangle 13"/>
          <p:cNvSpPr/>
          <p:nvPr/>
        </p:nvSpPr>
        <p:spPr>
          <a:xfrm>
            <a:off x="5285232" y="1993392"/>
            <a:ext cx="2057400" cy="914400"/>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76672" y="2148840"/>
            <a:ext cx="1874519" cy="210312"/>
          </a:xfrm>
          <a:prstGeom prst="rect">
            <a:avLst/>
          </a:prstGeom>
          <a:noFill/>
        </p:spPr>
        <p:txBody>
          <a:bodyPr wrap="square" lIns="9144" rIns="9144" tIns="9144" bIns="9144" anchor="t">
            <a:spAutoFit/>
          </a:bodyPr>
          <a:lstStyle/>
          <a:p>
            <a:pPr algn="ctr">
              <a:spcAft>
                <a:spcPts val="0"/>
              </a:spcAft>
            </a:pPr>
            <a:r>
              <a:rPr sz="900" b="1">
                <a:solidFill>
                  <a:srgbClr val="F4B95F"/>
                </a:solidFill>
                <a:latin typeface="Aptos"/>
              </a:rPr>
              <a:t>3  JAVASCRIPT</a:t>
            </a:r>
          </a:p>
        </p:txBody>
      </p:sp>
      <p:sp>
        <p:nvSpPr>
          <p:cNvPr id="16" name="TextBox 15"/>
          <p:cNvSpPr txBox="1"/>
          <p:nvPr/>
        </p:nvSpPr>
        <p:spPr>
          <a:xfrm>
            <a:off x="5358384" y="2459736"/>
            <a:ext cx="1911095" cy="246888"/>
          </a:xfrm>
          <a:prstGeom prst="rect">
            <a:avLst/>
          </a:prstGeom>
          <a:noFill/>
        </p:spPr>
        <p:txBody>
          <a:bodyPr wrap="square" lIns="9144" rIns="9144" tIns="9144" bIns="9144" anchor="t">
            <a:spAutoFit/>
          </a:bodyPr>
          <a:lstStyle/>
          <a:p>
            <a:pPr algn="ctr">
              <a:spcAft>
                <a:spcPts val="0"/>
              </a:spcAft>
            </a:pPr>
            <a:r>
              <a:rPr sz="900" b="0">
                <a:solidFill>
                  <a:srgbClr val="FFFFFF"/>
                </a:solidFill>
                <a:latin typeface="Aptos"/>
              </a:rPr>
              <a:t>Client-side modules</a:t>
            </a:r>
          </a:p>
        </p:txBody>
      </p:sp>
      <p:sp>
        <p:nvSpPr>
          <p:cNvPr id="17" name="Rounded Rectangle 16"/>
          <p:cNvSpPr/>
          <p:nvPr/>
        </p:nvSpPr>
        <p:spPr>
          <a:xfrm>
            <a:off x="7717536" y="1993392"/>
            <a:ext cx="2148840" cy="914400"/>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808975" y="2148840"/>
            <a:ext cx="1965960" cy="210312"/>
          </a:xfrm>
          <a:prstGeom prst="rect">
            <a:avLst/>
          </a:prstGeom>
          <a:noFill/>
        </p:spPr>
        <p:txBody>
          <a:bodyPr wrap="square" lIns="9144" rIns="9144" tIns="9144" bIns="9144" anchor="t">
            <a:spAutoFit/>
          </a:bodyPr>
          <a:lstStyle/>
          <a:p>
            <a:pPr algn="ctr">
              <a:spcAft>
                <a:spcPts val="0"/>
              </a:spcAft>
            </a:pPr>
            <a:r>
              <a:rPr sz="900" b="1">
                <a:solidFill>
                  <a:srgbClr val="8F9DF7"/>
                </a:solidFill>
                <a:latin typeface="Aptos"/>
              </a:rPr>
              <a:t>4  SUPABASE</a:t>
            </a:r>
          </a:p>
        </p:txBody>
      </p:sp>
      <p:sp>
        <p:nvSpPr>
          <p:cNvPr id="19" name="TextBox 18"/>
          <p:cNvSpPr txBox="1"/>
          <p:nvPr/>
        </p:nvSpPr>
        <p:spPr>
          <a:xfrm>
            <a:off x="7790688" y="2459736"/>
            <a:ext cx="2002536" cy="246888"/>
          </a:xfrm>
          <a:prstGeom prst="rect">
            <a:avLst/>
          </a:prstGeom>
          <a:noFill/>
        </p:spPr>
        <p:txBody>
          <a:bodyPr wrap="square" lIns="9144" rIns="9144" tIns="9144" bIns="9144" anchor="t">
            <a:spAutoFit/>
          </a:bodyPr>
          <a:lstStyle/>
          <a:p>
            <a:pPr algn="ctr">
              <a:spcAft>
                <a:spcPts val="0"/>
              </a:spcAft>
            </a:pPr>
            <a:r>
              <a:rPr sz="900" b="0">
                <a:solidFill>
                  <a:srgbClr val="FFFFFF"/>
                </a:solidFill>
                <a:latin typeface="Aptos"/>
              </a:rPr>
              <a:t>Auth + API + storage</a:t>
            </a:r>
          </a:p>
        </p:txBody>
      </p:sp>
      <p:sp>
        <p:nvSpPr>
          <p:cNvPr id="20" name="Rounded Rectangle 19"/>
          <p:cNvSpPr/>
          <p:nvPr/>
        </p:nvSpPr>
        <p:spPr>
          <a:xfrm>
            <a:off x="10213848" y="1993392"/>
            <a:ext cx="1353312" cy="914400"/>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05288" y="2148840"/>
            <a:ext cx="1170432" cy="210312"/>
          </a:xfrm>
          <a:prstGeom prst="rect">
            <a:avLst/>
          </a:prstGeom>
          <a:noFill/>
        </p:spPr>
        <p:txBody>
          <a:bodyPr wrap="square" lIns="9144" rIns="9144" tIns="9144" bIns="9144" anchor="t">
            <a:spAutoFit/>
          </a:bodyPr>
          <a:lstStyle/>
          <a:p>
            <a:pPr algn="ctr">
              <a:spcAft>
                <a:spcPts val="0"/>
              </a:spcAft>
            </a:pPr>
            <a:r>
              <a:rPr sz="900" b="1">
                <a:solidFill>
                  <a:srgbClr val="9BE7D5"/>
                </a:solidFill>
                <a:latin typeface="Aptos"/>
              </a:rPr>
              <a:t>5  POSTGRES</a:t>
            </a:r>
          </a:p>
        </p:txBody>
      </p:sp>
      <p:sp>
        <p:nvSpPr>
          <p:cNvPr id="22" name="TextBox 21"/>
          <p:cNvSpPr txBox="1"/>
          <p:nvPr/>
        </p:nvSpPr>
        <p:spPr>
          <a:xfrm>
            <a:off x="10287000" y="2459736"/>
            <a:ext cx="1207008" cy="246888"/>
          </a:xfrm>
          <a:prstGeom prst="rect">
            <a:avLst/>
          </a:prstGeom>
          <a:noFill/>
        </p:spPr>
        <p:txBody>
          <a:bodyPr wrap="square" lIns="9144" rIns="9144" tIns="9144" bIns="9144" anchor="t">
            <a:spAutoFit/>
          </a:bodyPr>
          <a:lstStyle/>
          <a:p>
            <a:pPr algn="ctr">
              <a:spcAft>
                <a:spcPts val="0"/>
              </a:spcAft>
            </a:pPr>
            <a:r>
              <a:rPr sz="900" b="0">
                <a:solidFill>
                  <a:srgbClr val="FFFFFF"/>
                </a:solidFill>
                <a:latin typeface="Aptos"/>
              </a:rPr>
              <a:t>Database</a:t>
            </a:r>
          </a:p>
        </p:txBody>
      </p:sp>
      <p:cxnSp>
        <p:nvCxnSpPr>
          <p:cNvPr id="23" name="Connector 22"/>
          <p:cNvCxnSpPr/>
          <p:nvPr/>
        </p:nvCxnSpPr>
        <p:spPr>
          <a:xfrm>
            <a:off x="2514600" y="2450592"/>
            <a:ext cx="338328" cy="0"/>
          </a:xfrm>
          <a:prstGeom prst="line">
            <a:avLst/>
          </a:prstGeom>
          <a:ln w="19050">
            <a:solidFill>
              <a:srgbClr val="A9B8CC"/>
            </a:solidFill>
          </a:ln>
        </p:spPr>
        <p:style>
          <a:lnRef idx="2">
            <a:schemeClr val="accent1"/>
          </a:lnRef>
          <a:fillRef idx="0">
            <a:schemeClr val="accent1"/>
          </a:fillRef>
          <a:effectRef idx="1">
            <a:schemeClr val="accent1"/>
          </a:effectRef>
          <a:fontRef idx="minor">
            <a:schemeClr val="tx1"/>
          </a:fontRef>
        </p:style>
      </p:cxnSp>
      <p:sp>
        <p:nvSpPr>
          <p:cNvPr id="24" name="Isosceles Triangle 23"/>
          <p:cNvSpPr/>
          <p:nvPr/>
        </p:nvSpPr>
        <p:spPr>
          <a:xfrm rot="5400000">
            <a:off x="2788920" y="2386584"/>
            <a:ext cx="128016" cy="128016"/>
          </a:xfrm>
          <a:prstGeom prst="triangle">
            <a:avLst/>
          </a:prstGeom>
          <a:solidFill>
            <a:srgbClr val="A9B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4919472" y="2450592"/>
            <a:ext cx="365760" cy="0"/>
          </a:xfrm>
          <a:prstGeom prst="line">
            <a:avLst/>
          </a:prstGeom>
          <a:ln w="19050">
            <a:solidFill>
              <a:srgbClr val="A9B8CC"/>
            </a:solidFill>
          </a:ln>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5221224" y="2386584"/>
            <a:ext cx="128016" cy="128016"/>
          </a:xfrm>
          <a:prstGeom prst="triangle">
            <a:avLst/>
          </a:prstGeom>
          <a:solidFill>
            <a:srgbClr val="A9B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7342631" y="2450592"/>
            <a:ext cx="374905" cy="0"/>
          </a:xfrm>
          <a:prstGeom prst="line">
            <a:avLst/>
          </a:prstGeom>
          <a:ln w="19050">
            <a:solidFill>
              <a:srgbClr val="A9B8CC"/>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5400000">
            <a:off x="7653527" y="2386584"/>
            <a:ext cx="128016" cy="128016"/>
          </a:xfrm>
          <a:prstGeom prst="triangle">
            <a:avLst/>
          </a:prstGeom>
          <a:solidFill>
            <a:srgbClr val="A9B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a:off x="9884664" y="2450592"/>
            <a:ext cx="329184" cy="0"/>
          </a:xfrm>
          <a:prstGeom prst="line">
            <a:avLst/>
          </a:prstGeom>
          <a:ln w="19050">
            <a:solidFill>
              <a:srgbClr val="A9B8CC"/>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5400000">
            <a:off x="10149840" y="2386584"/>
            <a:ext cx="128016" cy="128016"/>
          </a:xfrm>
          <a:prstGeom prst="triangle">
            <a:avLst/>
          </a:prstGeom>
          <a:solidFill>
            <a:srgbClr val="A9B8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flipH="1">
            <a:off x="1508760" y="3236976"/>
            <a:ext cx="9464040" cy="0"/>
          </a:xfrm>
          <a:prstGeom prst="line">
            <a:avLst/>
          </a:prstGeom>
          <a:ln w="21590">
            <a:solidFill>
              <a:srgbClr val="26C6B2"/>
            </a:solidFill>
          </a:ln>
        </p:spPr>
        <p:style>
          <a:lnRef idx="2">
            <a:schemeClr val="accent1"/>
          </a:lnRef>
          <a:fillRef idx="0">
            <a:schemeClr val="accent1"/>
          </a:fillRef>
          <a:effectRef idx="1">
            <a:schemeClr val="accent1"/>
          </a:effectRef>
          <a:fontRef idx="minor">
            <a:schemeClr val="tx1"/>
          </a:fontRef>
        </p:style>
      </p:cxnSp>
      <p:sp>
        <p:nvSpPr>
          <p:cNvPr id="32" name="Isosceles Triangle 31"/>
          <p:cNvSpPr/>
          <p:nvPr/>
        </p:nvSpPr>
        <p:spPr>
          <a:xfrm rot="16200000">
            <a:off x="1444751" y="3172968"/>
            <a:ext cx="128016" cy="128016"/>
          </a:xfrm>
          <a:prstGeom prst="triangle">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34640" y="3282696"/>
            <a:ext cx="6309360" cy="228600"/>
          </a:xfrm>
          <a:prstGeom prst="rect">
            <a:avLst/>
          </a:prstGeom>
          <a:noFill/>
        </p:spPr>
        <p:txBody>
          <a:bodyPr wrap="square" lIns="9144" rIns="9144" tIns="9144" bIns="9144" anchor="t">
            <a:spAutoFit/>
          </a:bodyPr>
          <a:lstStyle/>
          <a:p>
            <a:pPr algn="ctr">
              <a:spcAft>
                <a:spcPts val="0"/>
              </a:spcAft>
            </a:pPr>
            <a:r>
              <a:rPr sz="1000" b="0">
                <a:solidFill>
                  <a:srgbClr val="C8D5E7"/>
                </a:solidFill>
                <a:latin typeface="Aptos"/>
              </a:rPr>
              <a:t>Response returns through JavaScript to update the page</a:t>
            </a:r>
          </a:p>
        </p:txBody>
      </p:sp>
      <p:sp>
        <p:nvSpPr>
          <p:cNvPr id="34" name="Rounded Rectangle 33"/>
          <p:cNvSpPr/>
          <p:nvPr/>
        </p:nvSpPr>
        <p:spPr>
          <a:xfrm>
            <a:off x="694944" y="3877056"/>
            <a:ext cx="3401568" cy="1481328"/>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94944" y="3877056"/>
            <a:ext cx="41148" cy="148132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77824" y="4032504"/>
            <a:ext cx="3054096" cy="320040"/>
          </a:xfrm>
          <a:prstGeom prst="rect">
            <a:avLst/>
          </a:prstGeom>
          <a:noFill/>
        </p:spPr>
        <p:txBody>
          <a:bodyPr wrap="square" lIns="9144" rIns="9144" tIns="9144" bIns="9144" anchor="t">
            <a:spAutoFit/>
          </a:bodyPr>
          <a:lstStyle/>
          <a:p>
            <a:pPr algn="l">
              <a:spcAft>
                <a:spcPts val="0"/>
              </a:spcAft>
            </a:pPr>
            <a:r>
              <a:rPr sz="1300" b="1">
                <a:solidFill>
                  <a:srgbClr val="FFFFFF"/>
                </a:solidFill>
                <a:latin typeface="Aptos"/>
              </a:rPr>
              <a:t>Authentication</a:t>
            </a:r>
          </a:p>
        </p:txBody>
      </p:sp>
      <p:sp>
        <p:nvSpPr>
          <p:cNvPr id="37" name="TextBox 36"/>
          <p:cNvSpPr txBox="1"/>
          <p:nvPr/>
        </p:nvSpPr>
        <p:spPr>
          <a:xfrm>
            <a:off x="877824" y="4407408"/>
            <a:ext cx="3054096" cy="859536"/>
          </a:xfrm>
          <a:prstGeom prst="rect">
            <a:avLst/>
          </a:prstGeom>
          <a:noFill/>
        </p:spPr>
        <p:txBody>
          <a:bodyPr wrap="square" lIns="9144" rIns="9144" tIns="9144" bIns="9144" anchor="t">
            <a:spAutoFit/>
          </a:bodyPr>
          <a:lstStyle/>
          <a:p>
            <a:pPr algn="l">
              <a:spcAft>
                <a:spcPts val="0"/>
              </a:spcAft>
            </a:pPr>
            <a:r>
              <a:rPr sz="950" b="0">
                <a:solidFill>
                  <a:srgbClr val="D4DEEC"/>
                </a:solidFill>
                <a:latin typeface="Aptos"/>
              </a:rPr>
              <a:t>Supabase Auth calls exist in JavaScript for sign-in, registration and password flows.</a:t>
            </a:r>
          </a:p>
        </p:txBody>
      </p:sp>
      <p:sp>
        <p:nvSpPr>
          <p:cNvPr id="38" name="Rounded Rectangle 37"/>
          <p:cNvSpPr/>
          <p:nvPr/>
        </p:nvSpPr>
        <p:spPr>
          <a:xfrm>
            <a:off x="4389120" y="3877056"/>
            <a:ext cx="3401568" cy="1481328"/>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389120" y="3877056"/>
            <a:ext cx="41148" cy="1481328"/>
          </a:xfrm>
          <a:prstGeom prst="rect">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0" y="4032504"/>
            <a:ext cx="3054096" cy="320040"/>
          </a:xfrm>
          <a:prstGeom prst="rect">
            <a:avLst/>
          </a:prstGeom>
          <a:noFill/>
        </p:spPr>
        <p:txBody>
          <a:bodyPr wrap="square" lIns="9144" rIns="9144" tIns="9144" bIns="9144" anchor="t">
            <a:spAutoFit/>
          </a:bodyPr>
          <a:lstStyle/>
          <a:p>
            <a:pPr algn="l">
              <a:spcAft>
                <a:spcPts val="0"/>
              </a:spcAft>
            </a:pPr>
            <a:r>
              <a:rPr sz="1300" b="1">
                <a:solidFill>
                  <a:srgbClr val="FFFFFF"/>
                </a:solidFill>
                <a:latin typeface="Aptos"/>
              </a:rPr>
              <a:t>Database</a:t>
            </a:r>
          </a:p>
        </p:txBody>
      </p:sp>
      <p:sp>
        <p:nvSpPr>
          <p:cNvPr id="41" name="TextBox 40"/>
          <p:cNvSpPr txBox="1"/>
          <p:nvPr/>
        </p:nvSpPr>
        <p:spPr>
          <a:xfrm>
            <a:off x="4572000" y="4407408"/>
            <a:ext cx="3054096" cy="859536"/>
          </a:xfrm>
          <a:prstGeom prst="rect">
            <a:avLst/>
          </a:prstGeom>
          <a:noFill/>
        </p:spPr>
        <p:txBody>
          <a:bodyPr wrap="square" lIns="9144" rIns="9144" tIns="9144" bIns="9144" anchor="t">
            <a:spAutoFit/>
          </a:bodyPr>
          <a:lstStyle/>
          <a:p>
            <a:pPr algn="l">
              <a:spcAft>
                <a:spcPts val="0"/>
              </a:spcAft>
            </a:pPr>
            <a:r>
              <a:rPr sz="950" b="0">
                <a:solidFill>
                  <a:srgbClr val="D4DEEC"/>
                </a:solidFill>
                <a:latin typeface="Aptos"/>
              </a:rPr>
              <a:t>Client calls connect to Postgres tables; SQL migrations define schema and RLS.</a:t>
            </a:r>
          </a:p>
        </p:txBody>
      </p:sp>
      <p:sp>
        <p:nvSpPr>
          <p:cNvPr id="42" name="Rounded Rectangle 41"/>
          <p:cNvSpPr/>
          <p:nvPr/>
        </p:nvSpPr>
        <p:spPr>
          <a:xfrm>
            <a:off x="8083296" y="3877056"/>
            <a:ext cx="3401568" cy="1481328"/>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083296" y="3877056"/>
            <a:ext cx="41148" cy="1481328"/>
          </a:xfrm>
          <a:prstGeom prst="rect">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66175" y="4032504"/>
            <a:ext cx="3054096" cy="320040"/>
          </a:xfrm>
          <a:prstGeom prst="rect">
            <a:avLst/>
          </a:prstGeom>
          <a:noFill/>
        </p:spPr>
        <p:txBody>
          <a:bodyPr wrap="square" lIns="9144" rIns="9144" tIns="9144" bIns="9144" anchor="t">
            <a:spAutoFit/>
          </a:bodyPr>
          <a:lstStyle/>
          <a:p>
            <a:pPr algn="l">
              <a:spcAft>
                <a:spcPts val="0"/>
              </a:spcAft>
            </a:pPr>
            <a:r>
              <a:rPr sz="1300" b="1">
                <a:solidFill>
                  <a:srgbClr val="FFFFFF"/>
                </a:solidFill>
                <a:latin typeface="Aptos"/>
              </a:rPr>
              <a:t>File storage</a:t>
            </a:r>
          </a:p>
        </p:txBody>
      </p:sp>
      <p:sp>
        <p:nvSpPr>
          <p:cNvPr id="45" name="TextBox 44"/>
          <p:cNvSpPr txBox="1"/>
          <p:nvPr/>
        </p:nvSpPr>
        <p:spPr>
          <a:xfrm>
            <a:off x="8266175" y="4407408"/>
            <a:ext cx="3054096" cy="859536"/>
          </a:xfrm>
          <a:prstGeom prst="rect">
            <a:avLst/>
          </a:prstGeom>
          <a:noFill/>
        </p:spPr>
        <p:txBody>
          <a:bodyPr wrap="square" lIns="9144" rIns="9144" tIns="9144" bIns="9144" anchor="t">
            <a:spAutoFit/>
          </a:bodyPr>
          <a:lstStyle/>
          <a:p>
            <a:pPr algn="l">
              <a:spcAft>
                <a:spcPts val="0"/>
              </a:spcAft>
            </a:pPr>
            <a:r>
              <a:rPr sz="950" b="0">
                <a:solidFill>
                  <a:srgbClr val="D4DEEC"/>
                </a:solidFill>
                <a:latin typeface="Aptos"/>
              </a:rPr>
              <a:t>Resume upload and private-bucket code is present; live storage needs backend configuration.</a:t>
            </a:r>
          </a:p>
        </p:txBody>
      </p:sp>
      <p:sp>
        <p:nvSpPr>
          <p:cNvPr id="46" name="Rounded Rectangle 45"/>
          <p:cNvSpPr/>
          <p:nvPr/>
        </p:nvSpPr>
        <p:spPr>
          <a:xfrm>
            <a:off x="694944" y="5641848"/>
            <a:ext cx="10789920" cy="438912"/>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59536" y="5641848"/>
            <a:ext cx="10469880" cy="438912"/>
          </a:xfrm>
          <a:prstGeom prst="rect">
            <a:avLst/>
          </a:prstGeom>
          <a:noFill/>
        </p:spPr>
        <p:txBody>
          <a:bodyPr wrap="square" lIns="9144" rIns="9144" tIns="9144" bIns="9144" anchor="ctr">
            <a:spAutoFit/>
          </a:bodyPr>
          <a:lstStyle/>
          <a:p>
            <a:pPr algn="ctr">
              <a:spcAft>
                <a:spcPts val="0"/>
              </a:spcAft>
            </a:pPr>
            <a:r>
              <a:rPr sz="900" b="1">
                <a:solidFill>
                  <a:srgbClr val="D6DFEB"/>
                </a:solidFill>
                <a:latin typeface="Aptos"/>
              </a:rPr>
              <a:t>Integrations are described from source code; this review did not verify a live Supabase account or database.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66928" y="301752"/>
            <a:ext cx="10058400" cy="219456"/>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MODULES &amp; IMPLEMENTATION</a:t>
            </a:r>
          </a:p>
        </p:txBody>
      </p:sp>
      <p:sp>
        <p:nvSpPr>
          <p:cNvPr id="3" name="TextBox 2"/>
          <p:cNvSpPr txBox="1"/>
          <p:nvPr/>
        </p:nvSpPr>
        <p:spPr>
          <a:xfrm>
            <a:off x="566928" y="621792"/>
            <a:ext cx="11064240" cy="530352"/>
          </a:xfrm>
          <a:prstGeom prst="rect">
            <a:avLst/>
          </a:prstGeom>
          <a:noFill/>
        </p:spPr>
        <p:txBody>
          <a:bodyPr wrap="square" lIns="9144" rIns="9144" tIns="9144" bIns="9144" anchor="t">
            <a:spAutoFit/>
          </a:bodyPr>
          <a:lstStyle/>
          <a:p>
            <a:pPr algn="l">
              <a:spcAft>
                <a:spcPts val="0"/>
              </a:spcAft>
            </a:pPr>
            <a:r>
              <a:rPr sz="2500" b="1">
                <a:solidFill>
                  <a:srgbClr val="17233B"/>
                </a:solidFill>
                <a:latin typeface="Aptos"/>
              </a:rPr>
              <a:t>Student and admin modules share one consistent interface</a:t>
            </a:r>
          </a:p>
        </p:txBody>
      </p:sp>
      <p:sp>
        <p:nvSpPr>
          <p:cNvPr id="4" name="Rectangle 3"/>
          <p:cNvSpPr/>
          <p:nvPr/>
        </p:nvSpPr>
        <p:spPr>
          <a:xfrm>
            <a:off x="566928" y="1252728"/>
            <a:ext cx="512064" cy="4114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47104"/>
            <a:ext cx="5486400" cy="146304"/>
          </a:xfrm>
          <a:prstGeom prst="rect">
            <a:avLst/>
          </a:prstGeom>
          <a:noFill/>
        </p:spPr>
        <p:txBody>
          <a:bodyPr wrap="square" lIns="9144" rIns="9144" tIns="9144" bIns="9144" anchor="t">
            <a:spAutoFit/>
          </a:bodyPr>
          <a:lstStyle/>
          <a:p>
            <a:pPr algn="l">
              <a:spcAft>
                <a:spcPts val="0"/>
              </a:spcAft>
            </a:pPr>
            <a:r>
              <a:rPr sz="800" b="1">
                <a:solidFill>
                  <a:srgbClr val="68758D"/>
                </a:solidFill>
                <a:latin typeface="Aptos"/>
              </a:rPr>
              <a:t>CAREERNIFY  /  COLLEGE PROJECT REVIEW</a:t>
            </a:r>
          </a:p>
        </p:txBody>
      </p:sp>
      <p:sp>
        <p:nvSpPr>
          <p:cNvPr id="6" name="TextBox 5"/>
          <p:cNvSpPr txBox="1"/>
          <p:nvPr/>
        </p:nvSpPr>
        <p:spPr>
          <a:xfrm>
            <a:off x="10661904" y="6528816"/>
            <a:ext cx="960120" cy="164592"/>
          </a:xfrm>
          <a:prstGeom prst="rect">
            <a:avLst/>
          </a:prstGeom>
          <a:noFill/>
        </p:spPr>
        <p:txBody>
          <a:bodyPr wrap="square" lIns="9144" rIns="9144" tIns="9144" bIns="9144" anchor="t">
            <a:spAutoFit/>
          </a:bodyPr>
          <a:lstStyle/>
          <a:p>
            <a:pPr algn="r">
              <a:spcAft>
                <a:spcPts val="0"/>
              </a:spcAft>
            </a:pPr>
            <a:r>
              <a:rPr sz="800" b="1">
                <a:solidFill>
                  <a:srgbClr val="68758D"/>
                </a:solidFill>
                <a:latin typeface="Aptos"/>
              </a:rPr>
              <a:t>06 / 09</a:t>
            </a:r>
          </a:p>
        </p:txBody>
      </p:sp>
      <p:sp>
        <p:nvSpPr>
          <p:cNvPr id="7" name="Rounded Rectangle 6"/>
          <p:cNvSpPr/>
          <p:nvPr/>
        </p:nvSpPr>
        <p:spPr>
          <a:xfrm>
            <a:off x="658368" y="1554480"/>
            <a:ext cx="3456432" cy="111556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554480"/>
            <a:ext cx="41148" cy="111556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7" y="1709928"/>
            <a:ext cx="3108960" cy="320040"/>
          </a:xfrm>
          <a:prstGeom prst="rect">
            <a:avLst/>
          </a:prstGeom>
          <a:noFill/>
        </p:spPr>
        <p:txBody>
          <a:bodyPr wrap="square" lIns="9144" rIns="9144" tIns="9144" bIns="9144" anchor="t">
            <a:spAutoFit/>
          </a:bodyPr>
          <a:lstStyle/>
          <a:p>
            <a:pPr algn="l">
              <a:spcAft>
                <a:spcPts val="0"/>
              </a:spcAft>
            </a:pPr>
            <a:r>
              <a:rPr sz="1300" b="1">
                <a:solidFill>
                  <a:srgbClr val="17233B"/>
                </a:solidFill>
                <a:latin typeface="Aptos"/>
              </a:rPr>
              <a:t>Career planning</a:t>
            </a:r>
          </a:p>
        </p:txBody>
      </p:sp>
      <p:sp>
        <p:nvSpPr>
          <p:cNvPr id="10" name="TextBox 9"/>
          <p:cNvSpPr txBox="1"/>
          <p:nvPr/>
        </p:nvSpPr>
        <p:spPr>
          <a:xfrm>
            <a:off x="841247" y="2084831"/>
            <a:ext cx="3108960" cy="493775"/>
          </a:xfrm>
          <a:prstGeom prst="rect">
            <a:avLst/>
          </a:prstGeom>
          <a:noFill/>
        </p:spPr>
        <p:txBody>
          <a:bodyPr wrap="square" lIns="9144" rIns="9144" tIns="9144" bIns="9144" anchor="t">
            <a:spAutoFit/>
          </a:bodyPr>
          <a:lstStyle/>
          <a:p>
            <a:pPr algn="l">
              <a:spcAft>
                <a:spcPts val="0"/>
              </a:spcAft>
            </a:pPr>
            <a:r>
              <a:rPr sz="950" b="0">
                <a:solidFill>
                  <a:srgbClr val="68758D"/>
                </a:solidFill>
                <a:latin typeface="Aptos"/>
              </a:rPr>
              <a:t>Career intelligence, recommendations and profile context.</a:t>
            </a:r>
          </a:p>
        </p:txBody>
      </p:sp>
      <p:sp>
        <p:nvSpPr>
          <p:cNvPr id="11" name="Rounded Rectangle 10"/>
          <p:cNvSpPr/>
          <p:nvPr/>
        </p:nvSpPr>
        <p:spPr>
          <a:xfrm>
            <a:off x="4480559" y="1554480"/>
            <a:ext cx="3456432" cy="111556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0559" y="1554480"/>
            <a:ext cx="41148" cy="1115568"/>
          </a:xfrm>
          <a:prstGeom prst="rect">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1709928"/>
            <a:ext cx="3108960" cy="320040"/>
          </a:xfrm>
          <a:prstGeom prst="rect">
            <a:avLst/>
          </a:prstGeom>
          <a:noFill/>
        </p:spPr>
        <p:txBody>
          <a:bodyPr wrap="square" lIns="9144" rIns="9144" tIns="9144" bIns="9144" anchor="t">
            <a:spAutoFit/>
          </a:bodyPr>
          <a:lstStyle/>
          <a:p>
            <a:pPr algn="l">
              <a:spcAft>
                <a:spcPts val="0"/>
              </a:spcAft>
            </a:pPr>
            <a:r>
              <a:rPr sz="1300" b="1">
                <a:solidFill>
                  <a:srgbClr val="17233B"/>
                </a:solidFill>
                <a:latin typeface="Aptos"/>
              </a:rPr>
              <a:t>Skill development</a:t>
            </a:r>
          </a:p>
        </p:txBody>
      </p:sp>
      <p:sp>
        <p:nvSpPr>
          <p:cNvPr id="14" name="TextBox 13"/>
          <p:cNvSpPr txBox="1"/>
          <p:nvPr/>
        </p:nvSpPr>
        <p:spPr>
          <a:xfrm>
            <a:off x="4663440" y="2084831"/>
            <a:ext cx="3108960" cy="493775"/>
          </a:xfrm>
          <a:prstGeom prst="rect">
            <a:avLst/>
          </a:prstGeom>
          <a:noFill/>
        </p:spPr>
        <p:txBody>
          <a:bodyPr wrap="square" lIns="9144" rIns="9144" tIns="9144" bIns="9144" anchor="t">
            <a:spAutoFit/>
          </a:bodyPr>
          <a:lstStyle/>
          <a:p>
            <a:pPr algn="l">
              <a:spcAft>
                <a:spcPts val="0"/>
              </a:spcAft>
            </a:pPr>
            <a:r>
              <a:rPr sz="950" b="0">
                <a:solidFill>
                  <a:srgbClr val="68758D"/>
                </a:solidFill>
                <a:latin typeface="Aptos"/>
              </a:rPr>
              <a:t>Skill analysis, progress visuals and learning paths.</a:t>
            </a:r>
          </a:p>
        </p:txBody>
      </p:sp>
      <p:sp>
        <p:nvSpPr>
          <p:cNvPr id="15" name="Rounded Rectangle 14"/>
          <p:cNvSpPr/>
          <p:nvPr/>
        </p:nvSpPr>
        <p:spPr>
          <a:xfrm>
            <a:off x="8302752" y="1554480"/>
            <a:ext cx="3456432" cy="111556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302752" y="1554480"/>
            <a:ext cx="41148" cy="1115568"/>
          </a:xfrm>
          <a:prstGeom prst="rect">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85632" y="1709928"/>
            <a:ext cx="3108960" cy="320040"/>
          </a:xfrm>
          <a:prstGeom prst="rect">
            <a:avLst/>
          </a:prstGeom>
          <a:noFill/>
        </p:spPr>
        <p:txBody>
          <a:bodyPr wrap="square" lIns="9144" rIns="9144" tIns="9144" bIns="9144" anchor="t">
            <a:spAutoFit/>
          </a:bodyPr>
          <a:lstStyle/>
          <a:p>
            <a:pPr algn="l">
              <a:spcAft>
                <a:spcPts val="0"/>
              </a:spcAft>
            </a:pPr>
            <a:r>
              <a:rPr sz="1300" b="1">
                <a:solidFill>
                  <a:srgbClr val="17233B"/>
                </a:solidFill>
                <a:latin typeface="Aptos"/>
              </a:rPr>
              <a:t>Practice</a:t>
            </a:r>
          </a:p>
        </p:txBody>
      </p:sp>
      <p:sp>
        <p:nvSpPr>
          <p:cNvPr id="18" name="TextBox 17"/>
          <p:cNvSpPr txBox="1"/>
          <p:nvPr/>
        </p:nvSpPr>
        <p:spPr>
          <a:xfrm>
            <a:off x="8485632" y="2084831"/>
            <a:ext cx="3108960" cy="493775"/>
          </a:xfrm>
          <a:prstGeom prst="rect">
            <a:avLst/>
          </a:prstGeom>
          <a:noFill/>
        </p:spPr>
        <p:txBody>
          <a:bodyPr wrap="square" lIns="9144" rIns="9144" tIns="9144" bIns="9144" anchor="t">
            <a:spAutoFit/>
          </a:bodyPr>
          <a:lstStyle/>
          <a:p>
            <a:pPr algn="l">
              <a:spcAft>
                <a:spcPts val="0"/>
              </a:spcAft>
            </a:pPr>
            <a:r>
              <a:rPr sz="950" b="0">
                <a:solidFill>
                  <a:srgbClr val="68758D"/>
                </a:solidFill>
                <a:latin typeface="Aptos"/>
              </a:rPr>
              <a:t>Mock interview questions and assessment pages.</a:t>
            </a:r>
          </a:p>
        </p:txBody>
      </p:sp>
      <p:sp>
        <p:nvSpPr>
          <p:cNvPr id="19" name="Rounded Rectangle 18"/>
          <p:cNvSpPr/>
          <p:nvPr/>
        </p:nvSpPr>
        <p:spPr>
          <a:xfrm>
            <a:off x="658368" y="2898648"/>
            <a:ext cx="3456432" cy="111556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58368" y="2898648"/>
            <a:ext cx="41148" cy="1115568"/>
          </a:xfrm>
          <a:prstGeom prst="rect">
            <a:avLst/>
          </a:prstGeom>
          <a:solidFill>
            <a:srgbClr val="8F9D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3054096"/>
            <a:ext cx="3108960" cy="320040"/>
          </a:xfrm>
          <a:prstGeom prst="rect">
            <a:avLst/>
          </a:prstGeom>
          <a:noFill/>
        </p:spPr>
        <p:txBody>
          <a:bodyPr wrap="square" lIns="9144" rIns="9144" tIns="9144" bIns="9144" anchor="t">
            <a:spAutoFit/>
          </a:bodyPr>
          <a:lstStyle/>
          <a:p>
            <a:pPr algn="l">
              <a:spcAft>
                <a:spcPts val="0"/>
              </a:spcAft>
            </a:pPr>
            <a:r>
              <a:rPr sz="1300" b="1">
                <a:solidFill>
                  <a:srgbClr val="17233B"/>
                </a:solidFill>
                <a:latin typeface="Aptos"/>
              </a:rPr>
              <a:t>Opportunities</a:t>
            </a:r>
          </a:p>
        </p:txBody>
      </p:sp>
      <p:sp>
        <p:nvSpPr>
          <p:cNvPr id="22" name="TextBox 21"/>
          <p:cNvSpPr txBox="1"/>
          <p:nvPr/>
        </p:nvSpPr>
        <p:spPr>
          <a:xfrm>
            <a:off x="841247" y="3429000"/>
            <a:ext cx="3108960" cy="493775"/>
          </a:xfrm>
          <a:prstGeom prst="rect">
            <a:avLst/>
          </a:prstGeom>
          <a:noFill/>
        </p:spPr>
        <p:txBody>
          <a:bodyPr wrap="square" lIns="9144" rIns="9144" tIns="9144" bIns="9144" anchor="t">
            <a:spAutoFit/>
          </a:bodyPr>
          <a:lstStyle/>
          <a:p>
            <a:pPr algn="l">
              <a:spcAft>
                <a:spcPts val="0"/>
              </a:spcAft>
            </a:pPr>
            <a:r>
              <a:rPr sz="950" b="0">
                <a:solidFill>
                  <a:srgbClr val="68758D"/>
                </a:solidFill>
                <a:latin typeface="Aptos"/>
              </a:rPr>
              <a:t>Job recommendations and placement-drive pages.</a:t>
            </a:r>
          </a:p>
        </p:txBody>
      </p:sp>
      <p:sp>
        <p:nvSpPr>
          <p:cNvPr id="23" name="Rounded Rectangle 22"/>
          <p:cNvSpPr/>
          <p:nvPr/>
        </p:nvSpPr>
        <p:spPr>
          <a:xfrm>
            <a:off x="4480559" y="2898648"/>
            <a:ext cx="3456432" cy="111556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80559" y="2898648"/>
            <a:ext cx="41148" cy="1115568"/>
          </a:xfrm>
          <a:prstGeom prst="rect">
            <a:avLst/>
          </a:prstGeom>
          <a:solidFill>
            <a:srgbClr val="54BFA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3440" y="3054096"/>
            <a:ext cx="3108960" cy="320040"/>
          </a:xfrm>
          <a:prstGeom prst="rect">
            <a:avLst/>
          </a:prstGeom>
          <a:noFill/>
        </p:spPr>
        <p:txBody>
          <a:bodyPr wrap="square" lIns="9144" rIns="9144" tIns="9144" bIns="9144" anchor="t">
            <a:spAutoFit/>
          </a:bodyPr>
          <a:lstStyle/>
          <a:p>
            <a:pPr algn="l">
              <a:spcAft>
                <a:spcPts val="0"/>
              </a:spcAft>
            </a:pPr>
            <a:r>
              <a:rPr sz="1300" b="1">
                <a:solidFill>
                  <a:srgbClr val="17233B"/>
                </a:solidFill>
                <a:latin typeface="Aptos"/>
              </a:rPr>
              <a:t>Student services</a:t>
            </a:r>
          </a:p>
        </p:txBody>
      </p:sp>
      <p:sp>
        <p:nvSpPr>
          <p:cNvPr id="26" name="TextBox 25"/>
          <p:cNvSpPr txBox="1"/>
          <p:nvPr/>
        </p:nvSpPr>
        <p:spPr>
          <a:xfrm>
            <a:off x="4663440" y="3429000"/>
            <a:ext cx="3108960" cy="493775"/>
          </a:xfrm>
          <a:prstGeom prst="rect">
            <a:avLst/>
          </a:prstGeom>
          <a:noFill/>
        </p:spPr>
        <p:txBody>
          <a:bodyPr wrap="square" lIns="9144" rIns="9144" tIns="9144" bIns="9144" anchor="t">
            <a:spAutoFit/>
          </a:bodyPr>
          <a:lstStyle/>
          <a:p>
            <a:pPr algn="l">
              <a:spcAft>
                <a:spcPts val="0"/>
              </a:spcAft>
            </a:pPr>
            <a:r>
              <a:rPr sz="950" b="0">
                <a:solidFill>
                  <a:srgbClr val="68758D"/>
                </a:solidFill>
                <a:latin typeface="Aptos"/>
              </a:rPr>
              <a:t>Dashboard, profile, certificates, notifications and support.</a:t>
            </a:r>
          </a:p>
        </p:txBody>
      </p:sp>
      <p:sp>
        <p:nvSpPr>
          <p:cNvPr id="27" name="Rounded Rectangle 26"/>
          <p:cNvSpPr/>
          <p:nvPr/>
        </p:nvSpPr>
        <p:spPr>
          <a:xfrm>
            <a:off x="8302752" y="2898648"/>
            <a:ext cx="3456432" cy="1115568"/>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302752" y="2898648"/>
            <a:ext cx="41148" cy="1115568"/>
          </a:xfrm>
          <a:prstGeom prst="rect">
            <a:avLst/>
          </a:prstGeom>
          <a:solidFill>
            <a:srgbClr val="E28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85632" y="3054096"/>
            <a:ext cx="3108960" cy="320040"/>
          </a:xfrm>
          <a:prstGeom prst="rect">
            <a:avLst/>
          </a:prstGeom>
          <a:noFill/>
        </p:spPr>
        <p:txBody>
          <a:bodyPr wrap="square" lIns="9144" rIns="9144" tIns="9144" bIns="9144" anchor="t">
            <a:spAutoFit/>
          </a:bodyPr>
          <a:lstStyle/>
          <a:p>
            <a:pPr algn="l">
              <a:spcAft>
                <a:spcPts val="0"/>
              </a:spcAft>
            </a:pPr>
            <a:r>
              <a:rPr sz="1300" b="1">
                <a:solidFill>
                  <a:srgbClr val="17233B"/>
                </a:solidFill>
                <a:latin typeface="Aptos"/>
              </a:rPr>
              <a:t>Administration</a:t>
            </a:r>
          </a:p>
        </p:txBody>
      </p:sp>
      <p:sp>
        <p:nvSpPr>
          <p:cNvPr id="30" name="TextBox 29"/>
          <p:cNvSpPr txBox="1"/>
          <p:nvPr/>
        </p:nvSpPr>
        <p:spPr>
          <a:xfrm>
            <a:off x="8485632" y="3429000"/>
            <a:ext cx="3108960" cy="493775"/>
          </a:xfrm>
          <a:prstGeom prst="rect">
            <a:avLst/>
          </a:prstGeom>
          <a:noFill/>
        </p:spPr>
        <p:txBody>
          <a:bodyPr wrap="square" lIns="9144" rIns="9144" tIns="9144" bIns="9144" anchor="t">
            <a:spAutoFit/>
          </a:bodyPr>
          <a:lstStyle/>
          <a:p>
            <a:pPr algn="l">
              <a:spcAft>
                <a:spcPts val="0"/>
              </a:spcAft>
            </a:pPr>
            <a:r>
              <a:rPr sz="950" b="0">
                <a:solidFill>
                  <a:srgbClr val="68758D"/>
                </a:solidFill>
                <a:latin typeface="Aptos"/>
              </a:rPr>
              <a:t>Admin dashboard plus student, content, jobs, drives and assessment pages.</a:t>
            </a:r>
          </a:p>
        </p:txBody>
      </p:sp>
      <p:sp>
        <p:nvSpPr>
          <p:cNvPr id="31" name="TextBox 30"/>
          <p:cNvSpPr txBox="1"/>
          <p:nvPr/>
        </p:nvSpPr>
        <p:spPr>
          <a:xfrm>
            <a:off x="713232" y="4498848"/>
            <a:ext cx="2103120" cy="210312"/>
          </a:xfrm>
          <a:prstGeom prst="rect">
            <a:avLst/>
          </a:prstGeom>
          <a:noFill/>
        </p:spPr>
        <p:txBody>
          <a:bodyPr wrap="square" lIns="9144" rIns="9144" tIns="9144" bIns="9144" anchor="t">
            <a:spAutoFit/>
          </a:bodyPr>
          <a:lstStyle/>
          <a:p>
            <a:pPr algn="l">
              <a:spcAft>
                <a:spcPts val="0"/>
              </a:spcAft>
            </a:pPr>
            <a:r>
              <a:rPr sz="900" b="1">
                <a:solidFill>
                  <a:srgbClr val="68758D"/>
                </a:solidFill>
                <a:latin typeface="Aptos"/>
              </a:rPr>
              <a:t>IMPLEMENTATION PATH</a:t>
            </a:r>
          </a:p>
        </p:txBody>
      </p:sp>
      <p:sp>
        <p:nvSpPr>
          <p:cNvPr id="32" name="Rounded Rectangle 31"/>
          <p:cNvSpPr/>
          <p:nvPr/>
        </p:nvSpPr>
        <p:spPr>
          <a:xfrm>
            <a:off x="777240" y="4892040"/>
            <a:ext cx="2176272" cy="676656"/>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6112" y="4956048"/>
            <a:ext cx="914400" cy="201168"/>
          </a:xfrm>
          <a:prstGeom prst="rect">
            <a:avLst/>
          </a:prstGeom>
          <a:noFill/>
        </p:spPr>
        <p:txBody>
          <a:bodyPr wrap="square" lIns="9144" rIns="9144" tIns="9144" bIns="9144" anchor="t">
            <a:spAutoFit/>
          </a:bodyPr>
          <a:lstStyle/>
          <a:p>
            <a:pPr algn="l">
              <a:spcAft>
                <a:spcPts val="0"/>
              </a:spcAft>
            </a:pPr>
            <a:r>
              <a:rPr sz="1100" b="1">
                <a:solidFill>
                  <a:srgbClr val="17233B"/>
                </a:solidFill>
                <a:latin typeface="Aptos"/>
              </a:rPr>
              <a:t>HTML</a:t>
            </a:r>
          </a:p>
        </p:txBody>
      </p:sp>
      <p:sp>
        <p:nvSpPr>
          <p:cNvPr id="34" name="TextBox 33"/>
          <p:cNvSpPr txBox="1"/>
          <p:nvPr/>
        </p:nvSpPr>
        <p:spPr>
          <a:xfrm>
            <a:off x="1709928" y="4956048"/>
            <a:ext cx="1097280" cy="228600"/>
          </a:xfrm>
          <a:prstGeom prst="rect">
            <a:avLst/>
          </a:prstGeom>
          <a:noFill/>
        </p:spPr>
        <p:txBody>
          <a:bodyPr wrap="square" lIns="9144" rIns="9144" tIns="9144" bIns="9144" anchor="t">
            <a:spAutoFit/>
          </a:bodyPr>
          <a:lstStyle/>
          <a:p>
            <a:pPr algn="l">
              <a:spcAft>
                <a:spcPts val="0"/>
              </a:spcAft>
            </a:pPr>
            <a:r>
              <a:rPr sz="800" b="0">
                <a:solidFill>
                  <a:srgbClr val="68758D"/>
                </a:solidFill>
                <a:latin typeface="Aptos"/>
              </a:rPr>
              <a:t>page structure</a:t>
            </a:r>
          </a:p>
        </p:txBody>
      </p:sp>
      <p:cxnSp>
        <p:nvCxnSpPr>
          <p:cNvPr id="35" name="Connector 34"/>
          <p:cNvCxnSpPr/>
          <p:nvPr/>
        </p:nvCxnSpPr>
        <p:spPr>
          <a:xfrm>
            <a:off x="2990088" y="5230368"/>
            <a:ext cx="475488" cy="0"/>
          </a:xfrm>
          <a:prstGeom prst="line">
            <a:avLst/>
          </a:prstGeom>
          <a:ln w="17780">
            <a:solidFill>
              <a:srgbClr val="96A5B8"/>
            </a:solidFill>
          </a:ln>
        </p:spPr>
        <p:style>
          <a:lnRef idx="2">
            <a:schemeClr val="accent1"/>
          </a:lnRef>
          <a:fillRef idx="0">
            <a:schemeClr val="accent1"/>
          </a:fillRef>
          <a:effectRef idx="1">
            <a:schemeClr val="accent1"/>
          </a:effectRef>
          <a:fontRef idx="minor">
            <a:schemeClr val="tx1"/>
          </a:fontRef>
        </p:style>
      </p:cxnSp>
      <p:sp>
        <p:nvSpPr>
          <p:cNvPr id="36" name="Isosceles Triangle 35"/>
          <p:cNvSpPr/>
          <p:nvPr/>
        </p:nvSpPr>
        <p:spPr>
          <a:xfrm rot="5400000">
            <a:off x="3401568" y="5166359"/>
            <a:ext cx="128016" cy="128016"/>
          </a:xfrm>
          <a:prstGeom prst="triangle">
            <a:avLst/>
          </a:prstGeom>
          <a:solidFill>
            <a:srgbClr val="96A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3566160" y="4892040"/>
            <a:ext cx="2176272" cy="676656"/>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85032" y="4956048"/>
            <a:ext cx="914400" cy="201168"/>
          </a:xfrm>
          <a:prstGeom prst="rect">
            <a:avLst/>
          </a:prstGeom>
          <a:noFill/>
        </p:spPr>
        <p:txBody>
          <a:bodyPr wrap="square" lIns="9144" rIns="9144" tIns="9144" bIns="9144" anchor="t">
            <a:spAutoFit/>
          </a:bodyPr>
          <a:lstStyle/>
          <a:p>
            <a:pPr algn="l">
              <a:spcAft>
                <a:spcPts val="0"/>
              </a:spcAft>
            </a:pPr>
            <a:r>
              <a:rPr sz="1100" b="1">
                <a:solidFill>
                  <a:srgbClr val="17233B"/>
                </a:solidFill>
                <a:latin typeface="Aptos"/>
              </a:rPr>
              <a:t>CSS</a:t>
            </a:r>
          </a:p>
        </p:txBody>
      </p:sp>
      <p:sp>
        <p:nvSpPr>
          <p:cNvPr id="39" name="TextBox 38"/>
          <p:cNvSpPr txBox="1"/>
          <p:nvPr/>
        </p:nvSpPr>
        <p:spPr>
          <a:xfrm>
            <a:off x="4498848" y="4956048"/>
            <a:ext cx="1097280" cy="228600"/>
          </a:xfrm>
          <a:prstGeom prst="rect">
            <a:avLst/>
          </a:prstGeom>
          <a:noFill/>
        </p:spPr>
        <p:txBody>
          <a:bodyPr wrap="square" lIns="9144" rIns="9144" tIns="9144" bIns="9144" anchor="t">
            <a:spAutoFit/>
          </a:bodyPr>
          <a:lstStyle/>
          <a:p>
            <a:pPr algn="l">
              <a:spcAft>
                <a:spcPts val="0"/>
              </a:spcAft>
            </a:pPr>
            <a:r>
              <a:rPr sz="800" b="0">
                <a:solidFill>
                  <a:srgbClr val="68758D"/>
                </a:solidFill>
                <a:latin typeface="Aptos"/>
              </a:rPr>
              <a:t>responsive style</a:t>
            </a:r>
          </a:p>
        </p:txBody>
      </p:sp>
      <p:cxnSp>
        <p:nvCxnSpPr>
          <p:cNvPr id="40" name="Connector 39"/>
          <p:cNvCxnSpPr/>
          <p:nvPr/>
        </p:nvCxnSpPr>
        <p:spPr>
          <a:xfrm>
            <a:off x="5779008" y="5230368"/>
            <a:ext cx="475488" cy="0"/>
          </a:xfrm>
          <a:prstGeom prst="line">
            <a:avLst/>
          </a:prstGeom>
          <a:ln w="17780">
            <a:solidFill>
              <a:srgbClr val="96A5B8"/>
            </a:solidFill>
          </a:ln>
        </p:spPr>
        <p:style>
          <a:lnRef idx="2">
            <a:schemeClr val="accent1"/>
          </a:lnRef>
          <a:fillRef idx="0">
            <a:schemeClr val="accent1"/>
          </a:fillRef>
          <a:effectRef idx="1">
            <a:schemeClr val="accent1"/>
          </a:effectRef>
          <a:fontRef idx="minor">
            <a:schemeClr val="tx1"/>
          </a:fontRef>
        </p:style>
      </p:cxnSp>
      <p:sp>
        <p:nvSpPr>
          <p:cNvPr id="41" name="Isosceles Triangle 40"/>
          <p:cNvSpPr/>
          <p:nvPr/>
        </p:nvSpPr>
        <p:spPr>
          <a:xfrm rot="5400000">
            <a:off x="6190488" y="5166359"/>
            <a:ext cx="128016" cy="128016"/>
          </a:xfrm>
          <a:prstGeom prst="triangle">
            <a:avLst/>
          </a:prstGeom>
          <a:solidFill>
            <a:srgbClr val="96A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355079" y="4892040"/>
            <a:ext cx="2176272" cy="676656"/>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73951" y="4956048"/>
            <a:ext cx="914400" cy="201168"/>
          </a:xfrm>
          <a:prstGeom prst="rect">
            <a:avLst/>
          </a:prstGeom>
          <a:noFill/>
        </p:spPr>
        <p:txBody>
          <a:bodyPr wrap="square" lIns="9144" rIns="9144" tIns="9144" bIns="9144" anchor="t">
            <a:spAutoFit/>
          </a:bodyPr>
          <a:lstStyle/>
          <a:p>
            <a:pPr algn="l">
              <a:spcAft>
                <a:spcPts val="0"/>
              </a:spcAft>
            </a:pPr>
            <a:r>
              <a:rPr sz="1100" b="1">
                <a:solidFill>
                  <a:srgbClr val="17233B"/>
                </a:solidFill>
                <a:latin typeface="Aptos"/>
              </a:rPr>
              <a:t>JavaScript</a:t>
            </a:r>
          </a:p>
        </p:txBody>
      </p:sp>
      <p:sp>
        <p:nvSpPr>
          <p:cNvPr id="44" name="TextBox 43"/>
          <p:cNvSpPr txBox="1"/>
          <p:nvPr/>
        </p:nvSpPr>
        <p:spPr>
          <a:xfrm>
            <a:off x="7287767" y="4956048"/>
            <a:ext cx="1097280" cy="228600"/>
          </a:xfrm>
          <a:prstGeom prst="rect">
            <a:avLst/>
          </a:prstGeom>
          <a:noFill/>
        </p:spPr>
        <p:txBody>
          <a:bodyPr wrap="square" lIns="9144" rIns="9144" tIns="9144" bIns="9144" anchor="t">
            <a:spAutoFit/>
          </a:bodyPr>
          <a:lstStyle/>
          <a:p>
            <a:pPr algn="l">
              <a:spcAft>
                <a:spcPts val="0"/>
              </a:spcAft>
            </a:pPr>
            <a:r>
              <a:rPr sz="800" b="0">
                <a:solidFill>
                  <a:srgbClr val="68758D"/>
                </a:solidFill>
                <a:latin typeface="Aptos"/>
              </a:rPr>
              <a:t>events + client</a:t>
            </a:r>
          </a:p>
        </p:txBody>
      </p:sp>
      <p:cxnSp>
        <p:nvCxnSpPr>
          <p:cNvPr id="45" name="Connector 44"/>
          <p:cNvCxnSpPr/>
          <p:nvPr/>
        </p:nvCxnSpPr>
        <p:spPr>
          <a:xfrm>
            <a:off x="8567928" y="5230368"/>
            <a:ext cx="475487" cy="0"/>
          </a:xfrm>
          <a:prstGeom prst="line">
            <a:avLst/>
          </a:prstGeom>
          <a:ln w="17780">
            <a:solidFill>
              <a:srgbClr val="96A5B8"/>
            </a:solidFill>
          </a:ln>
        </p:spPr>
        <p:style>
          <a:lnRef idx="2">
            <a:schemeClr val="accent1"/>
          </a:lnRef>
          <a:fillRef idx="0">
            <a:schemeClr val="accent1"/>
          </a:fillRef>
          <a:effectRef idx="1">
            <a:schemeClr val="accent1"/>
          </a:effectRef>
          <a:fontRef idx="minor">
            <a:schemeClr val="tx1"/>
          </a:fontRef>
        </p:style>
      </p:cxnSp>
      <p:sp>
        <p:nvSpPr>
          <p:cNvPr id="46" name="Isosceles Triangle 45"/>
          <p:cNvSpPr/>
          <p:nvPr/>
        </p:nvSpPr>
        <p:spPr>
          <a:xfrm rot="5400000">
            <a:off x="8979407" y="5166359"/>
            <a:ext cx="128016" cy="128016"/>
          </a:xfrm>
          <a:prstGeom prst="triangle">
            <a:avLst/>
          </a:prstGeom>
          <a:solidFill>
            <a:srgbClr val="96A5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143999" y="4892040"/>
            <a:ext cx="2176272" cy="676656"/>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262872" y="4956048"/>
            <a:ext cx="914400" cy="201168"/>
          </a:xfrm>
          <a:prstGeom prst="rect">
            <a:avLst/>
          </a:prstGeom>
          <a:noFill/>
        </p:spPr>
        <p:txBody>
          <a:bodyPr wrap="square" lIns="9144" rIns="9144" tIns="9144" bIns="9144" anchor="t">
            <a:spAutoFit/>
          </a:bodyPr>
          <a:lstStyle/>
          <a:p>
            <a:pPr algn="l">
              <a:spcAft>
                <a:spcPts val="0"/>
              </a:spcAft>
            </a:pPr>
            <a:r>
              <a:rPr sz="1100" b="1">
                <a:solidFill>
                  <a:srgbClr val="17233B"/>
                </a:solidFill>
                <a:latin typeface="Aptos"/>
              </a:rPr>
              <a:t>Supabase</a:t>
            </a:r>
          </a:p>
        </p:txBody>
      </p:sp>
      <p:sp>
        <p:nvSpPr>
          <p:cNvPr id="49" name="TextBox 48"/>
          <p:cNvSpPr txBox="1"/>
          <p:nvPr/>
        </p:nvSpPr>
        <p:spPr>
          <a:xfrm>
            <a:off x="10076687" y="4956048"/>
            <a:ext cx="1097280" cy="228600"/>
          </a:xfrm>
          <a:prstGeom prst="rect">
            <a:avLst/>
          </a:prstGeom>
          <a:noFill/>
        </p:spPr>
        <p:txBody>
          <a:bodyPr wrap="square" lIns="9144" rIns="9144" tIns="9144" bIns="9144" anchor="t">
            <a:spAutoFit/>
          </a:bodyPr>
          <a:lstStyle/>
          <a:p>
            <a:pPr algn="l">
              <a:spcAft>
                <a:spcPts val="0"/>
              </a:spcAft>
            </a:pPr>
            <a:r>
              <a:rPr sz="800" b="0">
                <a:solidFill>
                  <a:srgbClr val="68758D"/>
                </a:solidFill>
                <a:latin typeface="Aptos"/>
              </a:rPr>
              <a:t>auth + data</a:t>
            </a:r>
          </a:p>
        </p:txBody>
      </p:sp>
      <p:sp>
        <p:nvSpPr>
          <p:cNvPr id="50" name="TextBox 49"/>
          <p:cNvSpPr txBox="1"/>
          <p:nvPr/>
        </p:nvSpPr>
        <p:spPr>
          <a:xfrm>
            <a:off x="749808" y="5852160"/>
            <a:ext cx="10698480" cy="228600"/>
          </a:xfrm>
          <a:prstGeom prst="rect">
            <a:avLst/>
          </a:prstGeom>
          <a:noFill/>
        </p:spPr>
        <p:txBody>
          <a:bodyPr wrap="square" lIns="9144" rIns="9144" tIns="9144" bIns="9144" anchor="t">
            <a:spAutoFit/>
          </a:bodyPr>
          <a:lstStyle/>
          <a:p>
            <a:pPr algn="ctr">
              <a:spcAft>
                <a:spcPts val="0"/>
              </a:spcAft>
            </a:pPr>
            <a:r>
              <a:rPr sz="900" b="0">
                <a:solidFill>
                  <a:srgbClr val="68758D"/>
                </a:solidFill>
                <a:latin typeface="Aptos"/>
              </a:rPr>
              <a:t>Resume review: browser text extraction / keyword guidance + upload path (PDF, DOCX, TXT; 5 MB max).</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01B35"/>
        </a:solidFill>
        <a:effectLst/>
      </p:bgPr>
    </p:bg>
    <p:spTree>
      <p:nvGrpSpPr>
        <p:cNvPr id="1" name=""/>
        <p:cNvGrpSpPr/>
        <p:nvPr/>
      </p:nvGrpSpPr>
      <p:grpSpPr/>
      <p:sp>
        <p:nvSpPr>
          <p:cNvPr id="2" name="TextBox 1"/>
          <p:cNvSpPr txBox="1"/>
          <p:nvPr/>
        </p:nvSpPr>
        <p:spPr>
          <a:xfrm>
            <a:off x="566928" y="301752"/>
            <a:ext cx="10058400" cy="219456"/>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PROJECT OUTPUT | SCREENSHOTS</a:t>
            </a:r>
          </a:p>
        </p:txBody>
      </p:sp>
      <p:sp>
        <p:nvSpPr>
          <p:cNvPr id="3" name="TextBox 2"/>
          <p:cNvSpPr txBox="1"/>
          <p:nvPr/>
        </p:nvSpPr>
        <p:spPr>
          <a:xfrm>
            <a:off x="566928" y="621792"/>
            <a:ext cx="11064240" cy="530352"/>
          </a:xfrm>
          <a:prstGeom prst="rect">
            <a:avLst/>
          </a:prstGeom>
          <a:noFill/>
        </p:spPr>
        <p:txBody>
          <a:bodyPr wrap="square" lIns="9144" rIns="9144" tIns="9144" bIns="9144" anchor="t">
            <a:spAutoFit/>
          </a:bodyPr>
          <a:lstStyle/>
          <a:p>
            <a:pPr algn="l">
              <a:spcAft>
                <a:spcPts val="0"/>
              </a:spcAft>
            </a:pPr>
            <a:r>
              <a:rPr sz="2500" b="1">
                <a:solidFill>
                  <a:srgbClr val="FFFFFF"/>
                </a:solidFill>
                <a:latin typeface="Aptos"/>
              </a:rPr>
              <a:t>Actual browser output from the running CareerNify project</a:t>
            </a:r>
          </a:p>
        </p:txBody>
      </p:sp>
      <p:sp>
        <p:nvSpPr>
          <p:cNvPr id="4" name="Rectangle 3"/>
          <p:cNvSpPr/>
          <p:nvPr/>
        </p:nvSpPr>
        <p:spPr>
          <a:xfrm>
            <a:off x="566928" y="1252728"/>
            <a:ext cx="512064" cy="4114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47104"/>
            <a:ext cx="5486400" cy="146304"/>
          </a:xfrm>
          <a:prstGeom prst="rect">
            <a:avLst/>
          </a:prstGeom>
          <a:noFill/>
        </p:spPr>
        <p:txBody>
          <a:bodyPr wrap="square" lIns="9144" rIns="9144" tIns="9144" bIns="9144" anchor="t">
            <a:spAutoFit/>
          </a:bodyPr>
          <a:lstStyle/>
          <a:p>
            <a:pPr algn="l">
              <a:spcAft>
                <a:spcPts val="0"/>
              </a:spcAft>
            </a:pPr>
            <a:r>
              <a:rPr sz="800" b="1">
                <a:solidFill>
                  <a:srgbClr val="C8D3E4"/>
                </a:solidFill>
                <a:latin typeface="Aptos"/>
              </a:rPr>
              <a:t>CAREERNIFY  /  COLLEGE PROJECT REVIEW</a:t>
            </a:r>
          </a:p>
        </p:txBody>
      </p:sp>
      <p:sp>
        <p:nvSpPr>
          <p:cNvPr id="6" name="TextBox 5"/>
          <p:cNvSpPr txBox="1"/>
          <p:nvPr/>
        </p:nvSpPr>
        <p:spPr>
          <a:xfrm>
            <a:off x="10661904" y="6528816"/>
            <a:ext cx="960120" cy="164592"/>
          </a:xfrm>
          <a:prstGeom prst="rect">
            <a:avLst/>
          </a:prstGeom>
          <a:noFill/>
        </p:spPr>
        <p:txBody>
          <a:bodyPr wrap="square" lIns="9144" rIns="9144" tIns="9144" bIns="9144" anchor="t">
            <a:spAutoFit/>
          </a:bodyPr>
          <a:lstStyle/>
          <a:p>
            <a:pPr algn="r">
              <a:spcAft>
                <a:spcPts val="0"/>
              </a:spcAft>
            </a:pPr>
            <a:r>
              <a:rPr sz="800" b="1">
                <a:solidFill>
                  <a:srgbClr val="C8D3E4"/>
                </a:solidFill>
                <a:latin typeface="Aptos"/>
              </a:rPr>
              <a:t>07 / 09</a:t>
            </a:r>
          </a:p>
        </p:txBody>
      </p:sp>
      <p:sp>
        <p:nvSpPr>
          <p:cNvPr id="7" name="TextBox 6"/>
          <p:cNvSpPr txBox="1"/>
          <p:nvPr/>
        </p:nvSpPr>
        <p:spPr>
          <a:xfrm>
            <a:off x="640080" y="1353312"/>
            <a:ext cx="10881360" cy="246888"/>
          </a:xfrm>
          <a:prstGeom prst="rect">
            <a:avLst/>
          </a:prstGeom>
          <a:noFill/>
        </p:spPr>
        <p:txBody>
          <a:bodyPr wrap="square" lIns="9144" rIns="9144" tIns="9144" bIns="9144" anchor="t">
            <a:spAutoFit/>
          </a:bodyPr>
          <a:lstStyle/>
          <a:p>
            <a:pPr algn="l">
              <a:spcAft>
                <a:spcPts val="0"/>
              </a:spcAft>
            </a:pPr>
            <a:r>
              <a:rPr sz="900" b="0">
                <a:solidFill>
                  <a:srgbClr val="C7D3E5"/>
                </a:solidFill>
                <a:latin typeface="Aptos"/>
              </a:rPr>
              <a:t>Screenshots captured from the local project in Microsoft Edge  |  UI values shown are sample/demo content</a:t>
            </a:r>
          </a:p>
        </p:txBody>
      </p:sp>
      <p:pic>
        <p:nvPicPr>
          <p:cNvPr id="8" name="Picture 7" descr="careernify-home.png"/>
          <p:cNvPicPr>
            <a:picLocks noChangeAspect="1"/>
          </p:cNvPicPr>
          <p:nvPr/>
        </p:nvPicPr>
        <p:blipFill>
          <a:blip r:embed="rId2"/>
          <a:stretch>
            <a:fillRect/>
          </a:stretch>
        </p:blipFill>
        <p:spPr>
          <a:xfrm>
            <a:off x="621792" y="1719072"/>
            <a:ext cx="3401568" cy="2185416"/>
          </a:xfrm>
          <a:prstGeom prst="rect">
            <a:avLst/>
          </a:prstGeom>
        </p:spPr>
      </p:pic>
      <p:sp>
        <p:nvSpPr>
          <p:cNvPr id="9" name="Rectangle 8"/>
          <p:cNvSpPr/>
          <p:nvPr/>
        </p:nvSpPr>
        <p:spPr>
          <a:xfrm>
            <a:off x="621792" y="1719072"/>
            <a:ext cx="3401568" cy="2185416"/>
          </a:xfrm>
          <a:prstGeom prst="rect">
            <a:avLst/>
          </a:prstGeom>
          <a:solidFill>
            <a:srgbClr val="FFFFFF"/>
          </a:solidFill>
          <a:ln w="12700">
            <a:solidFill>
              <a:srgbClr val="B8C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872861" y="2497226"/>
            <a:ext cx="192024" cy="192024"/>
          </a:xfrm>
          <a:prstGeom prst="ellipse">
            <a:avLst/>
          </a:prstGeom>
          <a:solidFill>
            <a:srgbClr val="26C6B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04865" y="2524658"/>
            <a:ext cx="128016" cy="137160"/>
          </a:xfrm>
          <a:prstGeom prst="rect">
            <a:avLst/>
          </a:prstGeom>
          <a:noFill/>
        </p:spPr>
        <p:txBody>
          <a:bodyPr wrap="square" lIns="9144" rIns="9144" tIns="9144" bIns="9144" anchor="ctr">
            <a:spAutoFit/>
          </a:bodyPr>
          <a:lstStyle/>
          <a:p>
            <a:pPr algn="ctr">
              <a:spcAft>
                <a:spcPts val="0"/>
              </a:spcAft>
            </a:pPr>
            <a:r>
              <a:rPr sz="700" b="1">
                <a:solidFill>
                  <a:srgbClr val="101B35"/>
                </a:solidFill>
                <a:latin typeface="Aptos"/>
              </a:rPr>
              <a:t>1</a:t>
            </a:r>
          </a:p>
        </p:txBody>
      </p:sp>
      <p:cxnSp>
        <p:nvCxnSpPr>
          <p:cNvPr id="12" name="Connector 11"/>
          <p:cNvCxnSpPr/>
          <p:nvPr/>
        </p:nvCxnSpPr>
        <p:spPr>
          <a:xfrm flipH="1">
            <a:off x="1325880" y="2712110"/>
            <a:ext cx="1642993" cy="1613002"/>
          </a:xfrm>
          <a:prstGeom prst="line">
            <a:avLst/>
          </a:prstGeom>
          <a:ln w="13970">
            <a:solidFill>
              <a:srgbClr val="9CB2D1"/>
            </a:solidFill>
          </a:ln>
        </p:spPr>
        <p:style>
          <a:lnRef idx="2">
            <a:schemeClr val="accent1"/>
          </a:lnRef>
          <a:fillRef idx="0">
            <a:schemeClr val="accent1"/>
          </a:fillRef>
          <a:effectRef idx="1">
            <a:schemeClr val="accent1"/>
          </a:effectRef>
          <a:fontRef idx="minor">
            <a:schemeClr val="tx1"/>
          </a:fontRef>
        </p:style>
      </p:cxnSp>
      <p:sp>
        <p:nvSpPr>
          <p:cNvPr id="13" name="Isosceles Triangle 12"/>
          <p:cNvSpPr/>
          <p:nvPr/>
        </p:nvSpPr>
        <p:spPr>
          <a:xfrm rot="13531666">
            <a:off x="1261872" y="4261104"/>
            <a:ext cx="128016" cy="128016"/>
          </a:xfrm>
          <a:prstGeom prst="triangle">
            <a:avLst/>
          </a:prstGeom>
          <a:solidFill>
            <a:srgbClr val="9CB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4471416"/>
            <a:ext cx="3401568" cy="219456"/>
          </a:xfrm>
          <a:prstGeom prst="rect">
            <a:avLst/>
          </a:prstGeom>
          <a:noFill/>
        </p:spPr>
        <p:txBody>
          <a:bodyPr wrap="square" lIns="9144" rIns="9144" tIns="9144" bIns="9144" anchor="t">
            <a:spAutoFit/>
          </a:bodyPr>
          <a:lstStyle/>
          <a:p>
            <a:pPr algn="ctr">
              <a:spcAft>
                <a:spcPts val="0"/>
              </a:spcAft>
            </a:pPr>
            <a:r>
              <a:rPr sz="900" b="1">
                <a:solidFill>
                  <a:srgbClr val="26C6B2"/>
                </a:solidFill>
                <a:latin typeface="Aptos"/>
              </a:rPr>
              <a:t>SIGN-IN / HOME</a:t>
            </a:r>
          </a:p>
        </p:txBody>
      </p:sp>
      <p:sp>
        <p:nvSpPr>
          <p:cNvPr id="15" name="TextBox 14"/>
          <p:cNvSpPr txBox="1"/>
          <p:nvPr/>
        </p:nvSpPr>
        <p:spPr>
          <a:xfrm>
            <a:off x="658368" y="4718304"/>
            <a:ext cx="3328416" cy="786384"/>
          </a:xfrm>
          <a:prstGeom prst="rect">
            <a:avLst/>
          </a:prstGeom>
          <a:noFill/>
        </p:spPr>
        <p:txBody>
          <a:bodyPr wrap="square" lIns="73152" rIns="73152" tIns="27432" bIns="27432" anchor="ctr">
            <a:spAutoFit/>
          </a:bodyPr>
          <a:lstStyle/>
          <a:p>
            <a:pPr algn="l">
              <a:spcAft>
                <a:spcPts val="0"/>
              </a:spcAft>
            </a:pPr>
            <a:r>
              <a:rPr sz="850" b="1">
                <a:solidFill>
                  <a:srgbClr val="FFFFFF"/>
                </a:solidFill>
                <a:latin typeface="Aptos"/>
              </a:rPr>
              <a:t>OUTPUT: CareerNify welcome panel, email/password fields, sign-in button and account links.</a:t>
            </a:r>
          </a:p>
        </p:txBody>
      </p:sp>
      <p:pic>
        <p:nvPicPr>
          <p:cNvPr id="16" name="Picture 15" descr="careernify-careers.png"/>
          <p:cNvPicPr>
            <a:picLocks noChangeAspect="1"/>
          </p:cNvPicPr>
          <p:nvPr/>
        </p:nvPicPr>
        <p:blipFill>
          <a:blip r:embed="rId3"/>
          <a:stretch>
            <a:fillRect/>
          </a:stretch>
        </p:blipFill>
        <p:spPr>
          <a:xfrm>
            <a:off x="4389120" y="1719072"/>
            <a:ext cx="3401568" cy="2185416"/>
          </a:xfrm>
          <a:prstGeom prst="rect">
            <a:avLst/>
          </a:prstGeom>
        </p:spPr>
      </p:pic>
      <p:sp>
        <p:nvSpPr>
          <p:cNvPr id="17" name="Rectangle 16"/>
          <p:cNvSpPr/>
          <p:nvPr/>
        </p:nvSpPr>
        <p:spPr>
          <a:xfrm>
            <a:off x="4389120" y="1719072"/>
            <a:ext cx="3401568" cy="2185416"/>
          </a:xfrm>
          <a:prstGeom prst="rect">
            <a:avLst/>
          </a:prstGeom>
          <a:solidFill>
            <a:srgbClr val="FFFFFF"/>
          </a:solidFill>
          <a:ln w="12700">
            <a:solidFill>
              <a:srgbClr val="B8C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640189" y="2497226"/>
            <a:ext cx="192024" cy="192024"/>
          </a:xfrm>
          <a:prstGeom prst="ellipse">
            <a:avLst/>
          </a:prstGeom>
          <a:solidFill>
            <a:srgbClr val="26C6B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2193" y="2524658"/>
            <a:ext cx="128016" cy="137160"/>
          </a:xfrm>
          <a:prstGeom prst="rect">
            <a:avLst/>
          </a:prstGeom>
          <a:noFill/>
        </p:spPr>
        <p:txBody>
          <a:bodyPr wrap="square" lIns="9144" rIns="9144" tIns="9144" bIns="9144" anchor="ctr">
            <a:spAutoFit/>
          </a:bodyPr>
          <a:lstStyle/>
          <a:p>
            <a:pPr algn="ctr">
              <a:spcAft>
                <a:spcPts val="0"/>
              </a:spcAft>
            </a:pPr>
            <a:r>
              <a:rPr sz="700" b="1">
                <a:solidFill>
                  <a:srgbClr val="101B35"/>
                </a:solidFill>
                <a:latin typeface="Aptos"/>
              </a:rPr>
              <a:t>1</a:t>
            </a:r>
          </a:p>
        </p:txBody>
      </p:sp>
      <p:cxnSp>
        <p:nvCxnSpPr>
          <p:cNvPr id="20" name="Connector 19"/>
          <p:cNvCxnSpPr/>
          <p:nvPr/>
        </p:nvCxnSpPr>
        <p:spPr>
          <a:xfrm flipH="1">
            <a:off x="6355080" y="2712110"/>
            <a:ext cx="381121" cy="1613002"/>
          </a:xfrm>
          <a:prstGeom prst="line">
            <a:avLst/>
          </a:prstGeom>
          <a:ln w="13970">
            <a:solidFill>
              <a:srgbClr val="9CB2D1"/>
            </a:solidFill>
          </a:ln>
        </p:spPr>
        <p:style>
          <a:lnRef idx="2">
            <a:schemeClr val="accent1"/>
          </a:lnRef>
          <a:fillRef idx="0">
            <a:schemeClr val="accent1"/>
          </a:fillRef>
          <a:effectRef idx="1">
            <a:schemeClr val="accent1"/>
          </a:effectRef>
          <a:fontRef idx="minor">
            <a:schemeClr val="tx1"/>
          </a:fontRef>
        </p:style>
      </p:cxnSp>
      <p:sp>
        <p:nvSpPr>
          <p:cNvPr id="21" name="Isosceles Triangle 20"/>
          <p:cNvSpPr/>
          <p:nvPr/>
        </p:nvSpPr>
        <p:spPr>
          <a:xfrm rot="11597646">
            <a:off x="6291072" y="4261104"/>
            <a:ext cx="128016" cy="128016"/>
          </a:xfrm>
          <a:prstGeom prst="triangle">
            <a:avLst/>
          </a:prstGeom>
          <a:solidFill>
            <a:srgbClr val="9CB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389120" y="4471416"/>
            <a:ext cx="3401568" cy="219456"/>
          </a:xfrm>
          <a:prstGeom prst="rect">
            <a:avLst/>
          </a:prstGeom>
          <a:noFill/>
        </p:spPr>
        <p:txBody>
          <a:bodyPr wrap="square" lIns="9144" rIns="9144" tIns="9144" bIns="9144" anchor="t">
            <a:spAutoFit/>
          </a:bodyPr>
          <a:lstStyle/>
          <a:p>
            <a:pPr algn="ctr">
              <a:spcAft>
                <a:spcPts val="0"/>
              </a:spcAft>
            </a:pPr>
            <a:r>
              <a:rPr sz="900" b="1">
                <a:solidFill>
                  <a:srgbClr val="26C6B2"/>
                </a:solidFill>
                <a:latin typeface="Aptos"/>
              </a:rPr>
              <a:t>CAREER INTELLIGENCE</a:t>
            </a:r>
          </a:p>
        </p:txBody>
      </p:sp>
      <p:sp>
        <p:nvSpPr>
          <p:cNvPr id="23" name="TextBox 22"/>
          <p:cNvSpPr txBox="1"/>
          <p:nvPr/>
        </p:nvSpPr>
        <p:spPr>
          <a:xfrm>
            <a:off x="4425696" y="4718304"/>
            <a:ext cx="3328416" cy="786384"/>
          </a:xfrm>
          <a:prstGeom prst="rect">
            <a:avLst/>
          </a:prstGeom>
          <a:noFill/>
        </p:spPr>
        <p:txBody>
          <a:bodyPr wrap="square" lIns="73152" rIns="73152" tIns="27432" bIns="27432" anchor="ctr">
            <a:spAutoFit/>
          </a:bodyPr>
          <a:lstStyle/>
          <a:p>
            <a:pPr algn="l">
              <a:spcAft>
                <a:spcPts val="0"/>
              </a:spcAft>
            </a:pPr>
            <a:r>
              <a:rPr sz="850" b="1">
                <a:solidFill>
                  <a:srgbClr val="FFFFFF"/>
                </a:solidFill>
                <a:latin typeface="Aptos"/>
              </a:rPr>
              <a:t>OUTPUT: 85% match, 3 gaps; Full-Stack 92% and Data Analyst 81% are shown as top roles. (Sample UI)</a:t>
            </a:r>
          </a:p>
        </p:txBody>
      </p:sp>
      <p:pic>
        <p:nvPicPr>
          <p:cNvPr id="24" name="Picture 23" descr="careernify-skills.png"/>
          <p:cNvPicPr>
            <a:picLocks noChangeAspect="1"/>
          </p:cNvPicPr>
          <p:nvPr/>
        </p:nvPicPr>
        <p:blipFill>
          <a:blip r:embed="rId4"/>
          <a:stretch>
            <a:fillRect/>
          </a:stretch>
        </p:blipFill>
        <p:spPr>
          <a:xfrm>
            <a:off x="8156448" y="1719072"/>
            <a:ext cx="3401568" cy="2185416"/>
          </a:xfrm>
          <a:prstGeom prst="rect">
            <a:avLst/>
          </a:prstGeom>
        </p:spPr>
      </p:pic>
      <p:sp>
        <p:nvSpPr>
          <p:cNvPr id="25" name="Rectangle 24"/>
          <p:cNvSpPr/>
          <p:nvPr/>
        </p:nvSpPr>
        <p:spPr>
          <a:xfrm>
            <a:off x="8156448" y="1719072"/>
            <a:ext cx="3401568" cy="2185416"/>
          </a:xfrm>
          <a:prstGeom prst="rect">
            <a:avLst/>
          </a:prstGeom>
          <a:solidFill>
            <a:srgbClr val="FFFFFF"/>
          </a:solidFill>
          <a:ln w="12700">
            <a:solidFill>
              <a:srgbClr val="B8C6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407517" y="2497226"/>
            <a:ext cx="192024" cy="192024"/>
          </a:xfrm>
          <a:prstGeom prst="ellipse">
            <a:avLst/>
          </a:prstGeom>
          <a:solidFill>
            <a:srgbClr val="26C6B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39521" y="2524658"/>
            <a:ext cx="128016" cy="137160"/>
          </a:xfrm>
          <a:prstGeom prst="rect">
            <a:avLst/>
          </a:prstGeom>
          <a:noFill/>
        </p:spPr>
        <p:txBody>
          <a:bodyPr wrap="square" lIns="9144" rIns="9144" tIns="9144" bIns="9144" anchor="ctr">
            <a:spAutoFit/>
          </a:bodyPr>
          <a:lstStyle/>
          <a:p>
            <a:pPr algn="ctr">
              <a:spcAft>
                <a:spcPts val="0"/>
              </a:spcAft>
            </a:pPr>
            <a:r>
              <a:rPr sz="700" b="1">
                <a:solidFill>
                  <a:srgbClr val="101B35"/>
                </a:solidFill>
                <a:latin typeface="Aptos"/>
              </a:rPr>
              <a:t>1</a:t>
            </a:r>
          </a:p>
        </p:txBody>
      </p:sp>
      <p:cxnSp>
        <p:nvCxnSpPr>
          <p:cNvPr id="28" name="Connector 27"/>
          <p:cNvCxnSpPr/>
          <p:nvPr/>
        </p:nvCxnSpPr>
        <p:spPr>
          <a:xfrm flipH="1">
            <a:off x="10040112" y="2712110"/>
            <a:ext cx="463417" cy="1613002"/>
          </a:xfrm>
          <a:prstGeom prst="line">
            <a:avLst/>
          </a:prstGeom>
          <a:ln w="13970">
            <a:solidFill>
              <a:srgbClr val="9CB2D1"/>
            </a:solidFill>
          </a:ln>
        </p:spPr>
        <p:style>
          <a:lnRef idx="2">
            <a:schemeClr val="accent1"/>
          </a:lnRef>
          <a:fillRef idx="0">
            <a:schemeClr val="accent1"/>
          </a:fillRef>
          <a:effectRef idx="1">
            <a:schemeClr val="accent1"/>
          </a:effectRef>
          <a:fontRef idx="minor">
            <a:schemeClr val="tx1"/>
          </a:fontRef>
        </p:style>
      </p:cxnSp>
      <p:sp>
        <p:nvSpPr>
          <p:cNvPr id="29" name="Isosceles Triangle 28"/>
          <p:cNvSpPr/>
          <p:nvPr/>
        </p:nvSpPr>
        <p:spPr>
          <a:xfrm rot="11761767">
            <a:off x="9976104" y="4261104"/>
            <a:ext cx="128016" cy="128016"/>
          </a:xfrm>
          <a:prstGeom prst="triangle">
            <a:avLst/>
          </a:prstGeom>
          <a:solidFill>
            <a:srgbClr val="9CB2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56448" y="4471416"/>
            <a:ext cx="3401568" cy="219456"/>
          </a:xfrm>
          <a:prstGeom prst="rect">
            <a:avLst/>
          </a:prstGeom>
          <a:noFill/>
        </p:spPr>
        <p:txBody>
          <a:bodyPr wrap="square" lIns="9144" rIns="9144" tIns="9144" bIns="9144" anchor="t">
            <a:spAutoFit/>
          </a:bodyPr>
          <a:lstStyle/>
          <a:p>
            <a:pPr algn="ctr">
              <a:spcAft>
                <a:spcPts val="0"/>
              </a:spcAft>
            </a:pPr>
            <a:r>
              <a:rPr sz="900" b="1">
                <a:solidFill>
                  <a:srgbClr val="26C6B2"/>
                </a:solidFill>
                <a:latin typeface="Aptos"/>
              </a:rPr>
              <a:t>SKILL ANALYSIS</a:t>
            </a:r>
          </a:p>
        </p:txBody>
      </p:sp>
      <p:sp>
        <p:nvSpPr>
          <p:cNvPr id="31" name="TextBox 30"/>
          <p:cNvSpPr txBox="1"/>
          <p:nvPr/>
        </p:nvSpPr>
        <p:spPr>
          <a:xfrm>
            <a:off x="8193023" y="4718304"/>
            <a:ext cx="3328416" cy="786384"/>
          </a:xfrm>
          <a:prstGeom prst="rect">
            <a:avLst/>
          </a:prstGeom>
          <a:noFill/>
        </p:spPr>
        <p:txBody>
          <a:bodyPr wrap="square" lIns="73152" rIns="73152" tIns="27432" bIns="27432" anchor="ctr">
            <a:spAutoFit/>
          </a:bodyPr>
          <a:lstStyle/>
          <a:p>
            <a:pPr algn="l">
              <a:spcAft>
                <a:spcPts val="0"/>
              </a:spcAft>
            </a:pPr>
            <a:r>
              <a:rPr sz="850" b="1">
                <a:solidFill>
                  <a:srgbClr val="FFFFFF"/>
                </a:solidFill>
                <a:latin typeface="Aptos"/>
              </a:rPr>
              <a:t>OUTPUT: Score 82%, 4 gaps; JavaScript 88%, HTML/CSS 91%, SQL 67%, API Design 52%. (Sample UI)</a:t>
            </a:r>
          </a:p>
        </p:txBody>
      </p:sp>
      <p:sp>
        <p:nvSpPr>
          <p:cNvPr id="32" name="Rounded Rectangle 31"/>
          <p:cNvSpPr/>
          <p:nvPr/>
        </p:nvSpPr>
        <p:spPr>
          <a:xfrm>
            <a:off x="658368" y="5650992"/>
            <a:ext cx="10835640" cy="438912"/>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0392" y="5650992"/>
            <a:ext cx="10442448" cy="438912"/>
          </a:xfrm>
          <a:prstGeom prst="rect">
            <a:avLst/>
          </a:prstGeom>
          <a:noFill/>
        </p:spPr>
        <p:txBody>
          <a:bodyPr wrap="square" lIns="9144" rIns="9144" tIns="9144" bIns="9144" anchor="ctr">
            <a:spAutoFit/>
          </a:bodyPr>
          <a:lstStyle/>
          <a:p>
            <a:pPr algn="ctr">
              <a:spcAft>
                <a:spcPts val="0"/>
              </a:spcAft>
            </a:pPr>
            <a:r>
              <a:rPr sz="900" b="1">
                <a:solidFill>
                  <a:srgbClr val="E1E8F2"/>
                </a:solidFill>
                <a:latin typeface="Aptos"/>
              </a:rPr>
              <a:t>Career-match and skill percentages are static example UI values, not measured student results.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B"/>
        </a:solidFill>
        <a:effectLst/>
      </p:bgPr>
    </p:bg>
    <p:spTree>
      <p:nvGrpSpPr>
        <p:cNvPr id="1" name=""/>
        <p:cNvGrpSpPr/>
        <p:nvPr/>
      </p:nvGrpSpPr>
      <p:grpSpPr/>
      <p:sp>
        <p:nvSpPr>
          <p:cNvPr id="2" name="TextBox 1"/>
          <p:cNvSpPr txBox="1"/>
          <p:nvPr/>
        </p:nvSpPr>
        <p:spPr>
          <a:xfrm>
            <a:off x="566928" y="301752"/>
            <a:ext cx="10058400" cy="219456"/>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RESULTS, TESTING &amp; BENEFITS</a:t>
            </a:r>
          </a:p>
        </p:txBody>
      </p:sp>
      <p:sp>
        <p:nvSpPr>
          <p:cNvPr id="3" name="TextBox 2"/>
          <p:cNvSpPr txBox="1"/>
          <p:nvPr/>
        </p:nvSpPr>
        <p:spPr>
          <a:xfrm>
            <a:off x="566928" y="621792"/>
            <a:ext cx="11064240" cy="530352"/>
          </a:xfrm>
          <a:prstGeom prst="rect">
            <a:avLst/>
          </a:prstGeom>
          <a:noFill/>
        </p:spPr>
        <p:txBody>
          <a:bodyPr wrap="square" lIns="9144" rIns="9144" tIns="9144" bIns="9144" anchor="t">
            <a:spAutoFit/>
          </a:bodyPr>
          <a:lstStyle/>
          <a:p>
            <a:pPr algn="l">
              <a:spcAft>
                <a:spcPts val="0"/>
              </a:spcAft>
            </a:pPr>
            <a:r>
              <a:rPr sz="2500" b="1">
                <a:solidFill>
                  <a:srgbClr val="17233B"/>
                </a:solidFill>
                <a:latin typeface="Aptos"/>
              </a:rPr>
              <a:t>What was verified locally—and what still needs testing</a:t>
            </a:r>
          </a:p>
        </p:txBody>
      </p:sp>
      <p:sp>
        <p:nvSpPr>
          <p:cNvPr id="4" name="Rectangle 3"/>
          <p:cNvSpPr/>
          <p:nvPr/>
        </p:nvSpPr>
        <p:spPr>
          <a:xfrm>
            <a:off x="566928" y="1252728"/>
            <a:ext cx="512064" cy="41148"/>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6547104"/>
            <a:ext cx="5486400" cy="146304"/>
          </a:xfrm>
          <a:prstGeom prst="rect">
            <a:avLst/>
          </a:prstGeom>
          <a:noFill/>
        </p:spPr>
        <p:txBody>
          <a:bodyPr wrap="square" lIns="9144" rIns="9144" tIns="9144" bIns="9144" anchor="t">
            <a:spAutoFit/>
          </a:bodyPr>
          <a:lstStyle/>
          <a:p>
            <a:pPr algn="l">
              <a:spcAft>
                <a:spcPts val="0"/>
              </a:spcAft>
            </a:pPr>
            <a:r>
              <a:rPr sz="800" b="1">
                <a:solidFill>
                  <a:srgbClr val="68758D"/>
                </a:solidFill>
                <a:latin typeface="Aptos"/>
              </a:rPr>
              <a:t>CAREERNIFY  /  COLLEGE PROJECT REVIEW</a:t>
            </a:r>
          </a:p>
        </p:txBody>
      </p:sp>
      <p:sp>
        <p:nvSpPr>
          <p:cNvPr id="6" name="TextBox 5"/>
          <p:cNvSpPr txBox="1"/>
          <p:nvPr/>
        </p:nvSpPr>
        <p:spPr>
          <a:xfrm>
            <a:off x="10661904" y="6528816"/>
            <a:ext cx="960120" cy="164592"/>
          </a:xfrm>
          <a:prstGeom prst="rect">
            <a:avLst/>
          </a:prstGeom>
          <a:noFill/>
        </p:spPr>
        <p:txBody>
          <a:bodyPr wrap="square" lIns="9144" rIns="9144" tIns="9144" bIns="9144" anchor="t">
            <a:spAutoFit/>
          </a:bodyPr>
          <a:lstStyle/>
          <a:p>
            <a:pPr algn="r">
              <a:spcAft>
                <a:spcPts val="0"/>
              </a:spcAft>
            </a:pPr>
            <a:r>
              <a:rPr sz="800" b="1">
                <a:solidFill>
                  <a:srgbClr val="68758D"/>
                </a:solidFill>
                <a:latin typeface="Aptos"/>
              </a:rPr>
              <a:t>08 / 09</a:t>
            </a:r>
          </a:p>
        </p:txBody>
      </p:sp>
      <p:sp>
        <p:nvSpPr>
          <p:cNvPr id="7" name="TextBox 6"/>
          <p:cNvSpPr txBox="1"/>
          <p:nvPr/>
        </p:nvSpPr>
        <p:spPr>
          <a:xfrm>
            <a:off x="658368" y="1435608"/>
            <a:ext cx="2011680" cy="201168"/>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LOCAL CHECKS</a:t>
            </a:r>
          </a:p>
        </p:txBody>
      </p:sp>
      <p:sp>
        <p:nvSpPr>
          <p:cNvPr id="8" name="Rounded Rectangle 7"/>
          <p:cNvSpPr/>
          <p:nvPr/>
        </p:nvSpPr>
        <p:spPr>
          <a:xfrm>
            <a:off x="658368" y="1746504"/>
            <a:ext cx="3063240" cy="384048"/>
          </a:xfrm>
          <a:prstGeom prst="roundRect">
            <a:avLst>
              <a:gd name="adj" fmla="val 12000"/>
            </a:avLst>
          </a:prstGeom>
          <a:solidFill>
            <a:srgbClr val="10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746504"/>
            <a:ext cx="2880360" cy="384048"/>
          </a:xfrm>
          <a:prstGeom prst="rect">
            <a:avLst/>
          </a:prstGeom>
          <a:noFill/>
        </p:spPr>
        <p:txBody>
          <a:bodyPr wrap="square" lIns="9144" rIns="9144" tIns="9144" bIns="9144" anchor="ctr">
            <a:spAutoFit/>
          </a:bodyPr>
          <a:lstStyle/>
          <a:p>
            <a:pPr algn="ctr">
              <a:spcAft>
                <a:spcPts val="0"/>
              </a:spcAft>
            </a:pPr>
            <a:r>
              <a:rPr sz="800" b="1">
                <a:solidFill>
                  <a:srgbClr val="FFFFFF"/>
                </a:solidFill>
                <a:latin typeface="Aptos"/>
              </a:rPr>
              <a:t>TEST CASE</a:t>
            </a:r>
          </a:p>
        </p:txBody>
      </p:sp>
      <p:sp>
        <p:nvSpPr>
          <p:cNvPr id="10" name="Rounded Rectangle 9"/>
          <p:cNvSpPr/>
          <p:nvPr/>
        </p:nvSpPr>
        <p:spPr>
          <a:xfrm>
            <a:off x="3794760" y="1746504"/>
            <a:ext cx="2971800" cy="384048"/>
          </a:xfrm>
          <a:prstGeom prst="roundRect">
            <a:avLst>
              <a:gd name="adj" fmla="val 12000"/>
            </a:avLst>
          </a:prstGeom>
          <a:solidFill>
            <a:srgbClr val="10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86200" y="1746504"/>
            <a:ext cx="2788920" cy="384048"/>
          </a:xfrm>
          <a:prstGeom prst="rect">
            <a:avLst/>
          </a:prstGeom>
          <a:noFill/>
        </p:spPr>
        <p:txBody>
          <a:bodyPr wrap="square" lIns="9144" rIns="9144" tIns="9144" bIns="9144" anchor="ctr">
            <a:spAutoFit/>
          </a:bodyPr>
          <a:lstStyle/>
          <a:p>
            <a:pPr algn="ctr">
              <a:spcAft>
                <a:spcPts val="0"/>
              </a:spcAft>
            </a:pPr>
            <a:r>
              <a:rPr sz="800" b="1">
                <a:solidFill>
                  <a:srgbClr val="FFFFFF"/>
                </a:solidFill>
                <a:latin typeface="Aptos"/>
              </a:rPr>
              <a:t>EXPECTED</a:t>
            </a:r>
          </a:p>
        </p:txBody>
      </p:sp>
      <p:sp>
        <p:nvSpPr>
          <p:cNvPr id="12" name="Rounded Rectangle 11"/>
          <p:cNvSpPr/>
          <p:nvPr/>
        </p:nvSpPr>
        <p:spPr>
          <a:xfrm>
            <a:off x="6858000" y="1746504"/>
            <a:ext cx="2514600" cy="384048"/>
          </a:xfrm>
          <a:prstGeom prst="roundRect">
            <a:avLst>
              <a:gd name="adj" fmla="val 12000"/>
            </a:avLst>
          </a:prstGeom>
          <a:solidFill>
            <a:srgbClr val="10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0" y="1746504"/>
            <a:ext cx="2331720" cy="384048"/>
          </a:xfrm>
          <a:prstGeom prst="rect">
            <a:avLst/>
          </a:prstGeom>
          <a:noFill/>
        </p:spPr>
        <p:txBody>
          <a:bodyPr wrap="square" lIns="9144" rIns="9144" tIns="9144" bIns="9144" anchor="ctr">
            <a:spAutoFit/>
          </a:bodyPr>
          <a:lstStyle/>
          <a:p>
            <a:pPr algn="ctr">
              <a:spcAft>
                <a:spcPts val="0"/>
              </a:spcAft>
            </a:pPr>
            <a:r>
              <a:rPr sz="800" b="1">
                <a:solidFill>
                  <a:srgbClr val="FFFFFF"/>
                </a:solidFill>
                <a:latin typeface="Aptos"/>
              </a:rPr>
              <a:t>ACTUAL RESULT</a:t>
            </a:r>
          </a:p>
        </p:txBody>
      </p:sp>
      <p:sp>
        <p:nvSpPr>
          <p:cNvPr id="14" name="Rounded Rectangle 13"/>
          <p:cNvSpPr/>
          <p:nvPr/>
        </p:nvSpPr>
        <p:spPr>
          <a:xfrm>
            <a:off x="9464040" y="1746504"/>
            <a:ext cx="1965960" cy="384048"/>
          </a:xfrm>
          <a:prstGeom prst="roundRect">
            <a:avLst>
              <a:gd name="adj" fmla="val 12000"/>
            </a:avLst>
          </a:prstGeom>
          <a:solidFill>
            <a:srgbClr val="101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555480" y="1746504"/>
            <a:ext cx="1783080" cy="384048"/>
          </a:xfrm>
          <a:prstGeom prst="rect">
            <a:avLst/>
          </a:prstGeom>
          <a:noFill/>
        </p:spPr>
        <p:txBody>
          <a:bodyPr wrap="square" lIns="9144" rIns="9144" tIns="9144" bIns="9144" anchor="ctr">
            <a:spAutoFit/>
          </a:bodyPr>
          <a:lstStyle/>
          <a:p>
            <a:pPr algn="ctr">
              <a:spcAft>
                <a:spcPts val="0"/>
              </a:spcAft>
            </a:pPr>
            <a:r>
              <a:rPr sz="800" b="1">
                <a:solidFill>
                  <a:srgbClr val="FFFFFF"/>
                </a:solidFill>
                <a:latin typeface="Aptos"/>
              </a:rPr>
              <a:t>STATUS</a:t>
            </a:r>
          </a:p>
        </p:txBody>
      </p:sp>
      <p:sp>
        <p:nvSpPr>
          <p:cNvPr id="16" name="Rounded Rectangle 15"/>
          <p:cNvSpPr/>
          <p:nvPr/>
        </p:nvSpPr>
        <p:spPr>
          <a:xfrm>
            <a:off x="658368" y="2185416"/>
            <a:ext cx="306324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0664" y="2217420"/>
            <a:ext cx="2898648" cy="393192"/>
          </a:xfrm>
          <a:prstGeom prst="rect">
            <a:avLst/>
          </a:prstGeom>
          <a:noFill/>
        </p:spPr>
        <p:txBody>
          <a:bodyPr wrap="square" lIns="9144" rIns="9144" tIns="9144" bIns="9144" anchor="ctr">
            <a:spAutoFit/>
          </a:bodyPr>
          <a:lstStyle/>
          <a:p>
            <a:pPr algn="l">
              <a:spcAft>
                <a:spcPts val="0"/>
              </a:spcAft>
            </a:pPr>
            <a:r>
              <a:rPr sz="850" b="0">
                <a:solidFill>
                  <a:srgbClr val="17233B"/>
                </a:solidFill>
                <a:latin typeface="Aptos"/>
              </a:rPr>
              <a:t>Home / sign-in page</a:t>
            </a:r>
          </a:p>
        </p:txBody>
      </p:sp>
      <p:sp>
        <p:nvSpPr>
          <p:cNvPr id="18" name="Rounded Rectangle 17"/>
          <p:cNvSpPr/>
          <p:nvPr/>
        </p:nvSpPr>
        <p:spPr>
          <a:xfrm>
            <a:off x="3794760" y="2185416"/>
            <a:ext cx="297180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877056" y="2217420"/>
            <a:ext cx="2807208" cy="393192"/>
          </a:xfrm>
          <a:prstGeom prst="rect">
            <a:avLst/>
          </a:prstGeom>
          <a:noFill/>
        </p:spPr>
        <p:txBody>
          <a:bodyPr wrap="square" lIns="9144" rIns="9144" tIns="9144" bIns="9144" anchor="ctr">
            <a:spAutoFit/>
          </a:bodyPr>
          <a:lstStyle/>
          <a:p>
            <a:pPr algn="l">
              <a:spcAft>
                <a:spcPts val="0"/>
              </a:spcAft>
            </a:pPr>
            <a:r>
              <a:rPr sz="800" b="0">
                <a:solidFill>
                  <a:srgbClr val="17233B"/>
                </a:solidFill>
                <a:latin typeface="Aptos"/>
              </a:rPr>
              <a:t>Page serves in browser</a:t>
            </a:r>
          </a:p>
        </p:txBody>
      </p:sp>
      <p:sp>
        <p:nvSpPr>
          <p:cNvPr id="20" name="Rounded Rectangle 19"/>
          <p:cNvSpPr/>
          <p:nvPr/>
        </p:nvSpPr>
        <p:spPr>
          <a:xfrm>
            <a:off x="6858000" y="2185416"/>
            <a:ext cx="251460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0296" y="2217420"/>
            <a:ext cx="2350008" cy="393192"/>
          </a:xfrm>
          <a:prstGeom prst="rect">
            <a:avLst/>
          </a:prstGeom>
          <a:noFill/>
        </p:spPr>
        <p:txBody>
          <a:bodyPr wrap="square" lIns="9144" rIns="9144" tIns="9144" bIns="9144" anchor="ctr">
            <a:spAutoFit/>
          </a:bodyPr>
          <a:lstStyle/>
          <a:p>
            <a:pPr algn="l">
              <a:spcAft>
                <a:spcPts val="0"/>
              </a:spcAft>
            </a:pPr>
            <a:r>
              <a:rPr sz="800" b="0">
                <a:solidFill>
                  <a:srgbClr val="17233B"/>
                </a:solidFill>
                <a:latin typeface="Aptos"/>
              </a:rPr>
              <a:t>HTTP 200</a:t>
            </a:r>
          </a:p>
        </p:txBody>
      </p:sp>
      <p:sp>
        <p:nvSpPr>
          <p:cNvPr id="22" name="Rounded Rectangle 21"/>
          <p:cNvSpPr/>
          <p:nvPr/>
        </p:nvSpPr>
        <p:spPr>
          <a:xfrm>
            <a:off x="9464040" y="2185416"/>
            <a:ext cx="196596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546336" y="2217420"/>
            <a:ext cx="1801368" cy="393192"/>
          </a:xfrm>
          <a:prstGeom prst="rect">
            <a:avLst/>
          </a:prstGeom>
          <a:noFill/>
        </p:spPr>
        <p:txBody>
          <a:bodyPr wrap="square" lIns="9144" rIns="9144" tIns="9144" bIns="9144" anchor="ctr">
            <a:spAutoFit/>
          </a:bodyPr>
          <a:lstStyle/>
          <a:p>
            <a:pPr algn="ctr">
              <a:spcAft>
                <a:spcPts val="0"/>
              </a:spcAft>
            </a:pPr>
            <a:r>
              <a:rPr sz="850" b="1">
                <a:solidFill>
                  <a:srgbClr val="24643E"/>
                </a:solidFill>
                <a:latin typeface="Aptos"/>
              </a:rPr>
              <a:t>PASS</a:t>
            </a:r>
          </a:p>
        </p:txBody>
      </p:sp>
      <p:sp>
        <p:nvSpPr>
          <p:cNvPr id="24" name="Rounded Rectangle 23"/>
          <p:cNvSpPr/>
          <p:nvPr/>
        </p:nvSpPr>
        <p:spPr>
          <a:xfrm>
            <a:off x="658368" y="2706624"/>
            <a:ext cx="306324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0664" y="2738628"/>
            <a:ext cx="2898648" cy="393192"/>
          </a:xfrm>
          <a:prstGeom prst="rect">
            <a:avLst/>
          </a:prstGeom>
          <a:noFill/>
        </p:spPr>
        <p:txBody>
          <a:bodyPr wrap="square" lIns="9144" rIns="9144" tIns="9144" bIns="9144" anchor="ctr">
            <a:spAutoFit/>
          </a:bodyPr>
          <a:lstStyle/>
          <a:p>
            <a:pPr algn="l">
              <a:spcAft>
                <a:spcPts val="0"/>
              </a:spcAft>
            </a:pPr>
            <a:r>
              <a:rPr sz="850" b="0">
                <a:solidFill>
                  <a:srgbClr val="17233B"/>
                </a:solidFill>
                <a:latin typeface="Aptos"/>
              </a:rPr>
              <a:t>Career + skill pages</a:t>
            </a:r>
          </a:p>
        </p:txBody>
      </p:sp>
      <p:sp>
        <p:nvSpPr>
          <p:cNvPr id="26" name="Rounded Rectangle 25"/>
          <p:cNvSpPr/>
          <p:nvPr/>
        </p:nvSpPr>
        <p:spPr>
          <a:xfrm>
            <a:off x="3794760" y="2706624"/>
            <a:ext cx="297180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877056" y="2738628"/>
            <a:ext cx="2807208" cy="393192"/>
          </a:xfrm>
          <a:prstGeom prst="rect">
            <a:avLst/>
          </a:prstGeom>
          <a:noFill/>
        </p:spPr>
        <p:txBody>
          <a:bodyPr wrap="square" lIns="9144" rIns="9144" tIns="9144" bIns="9144" anchor="ctr">
            <a:spAutoFit/>
          </a:bodyPr>
          <a:lstStyle/>
          <a:p>
            <a:pPr algn="l">
              <a:spcAft>
                <a:spcPts val="0"/>
              </a:spcAft>
            </a:pPr>
            <a:r>
              <a:rPr sz="800" b="0">
                <a:solidFill>
                  <a:srgbClr val="17233B"/>
                </a:solidFill>
                <a:latin typeface="Aptos"/>
              </a:rPr>
              <a:t>Module pages serve</a:t>
            </a:r>
          </a:p>
        </p:txBody>
      </p:sp>
      <p:sp>
        <p:nvSpPr>
          <p:cNvPr id="28" name="Rounded Rectangle 27"/>
          <p:cNvSpPr/>
          <p:nvPr/>
        </p:nvSpPr>
        <p:spPr>
          <a:xfrm>
            <a:off x="6858000" y="2706624"/>
            <a:ext cx="251460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940296" y="2738628"/>
            <a:ext cx="2350008" cy="393192"/>
          </a:xfrm>
          <a:prstGeom prst="rect">
            <a:avLst/>
          </a:prstGeom>
          <a:noFill/>
        </p:spPr>
        <p:txBody>
          <a:bodyPr wrap="square" lIns="9144" rIns="9144" tIns="9144" bIns="9144" anchor="ctr">
            <a:spAutoFit/>
          </a:bodyPr>
          <a:lstStyle/>
          <a:p>
            <a:pPr algn="l">
              <a:spcAft>
                <a:spcPts val="0"/>
              </a:spcAft>
            </a:pPr>
            <a:r>
              <a:rPr sz="800" b="0">
                <a:solidFill>
                  <a:srgbClr val="17233B"/>
                </a:solidFill>
                <a:latin typeface="Aptos"/>
              </a:rPr>
              <a:t>Both HTTP 200</a:t>
            </a:r>
          </a:p>
        </p:txBody>
      </p:sp>
      <p:sp>
        <p:nvSpPr>
          <p:cNvPr id="30" name="Rounded Rectangle 29"/>
          <p:cNvSpPr/>
          <p:nvPr/>
        </p:nvSpPr>
        <p:spPr>
          <a:xfrm>
            <a:off x="9464040" y="2706624"/>
            <a:ext cx="196596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46336" y="2738628"/>
            <a:ext cx="1801368" cy="393192"/>
          </a:xfrm>
          <a:prstGeom prst="rect">
            <a:avLst/>
          </a:prstGeom>
          <a:noFill/>
        </p:spPr>
        <p:txBody>
          <a:bodyPr wrap="square" lIns="9144" rIns="9144" tIns="9144" bIns="9144" anchor="ctr">
            <a:spAutoFit/>
          </a:bodyPr>
          <a:lstStyle/>
          <a:p>
            <a:pPr algn="ctr">
              <a:spcAft>
                <a:spcPts val="0"/>
              </a:spcAft>
            </a:pPr>
            <a:r>
              <a:rPr sz="850" b="1">
                <a:solidFill>
                  <a:srgbClr val="24643E"/>
                </a:solidFill>
                <a:latin typeface="Aptos"/>
              </a:rPr>
              <a:t>PASS</a:t>
            </a:r>
          </a:p>
        </p:txBody>
      </p:sp>
      <p:sp>
        <p:nvSpPr>
          <p:cNvPr id="32" name="Rounded Rectangle 31"/>
          <p:cNvSpPr/>
          <p:nvPr/>
        </p:nvSpPr>
        <p:spPr>
          <a:xfrm>
            <a:off x="658368" y="3227832"/>
            <a:ext cx="306324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0664" y="3259836"/>
            <a:ext cx="2898648" cy="393192"/>
          </a:xfrm>
          <a:prstGeom prst="rect">
            <a:avLst/>
          </a:prstGeom>
          <a:noFill/>
        </p:spPr>
        <p:txBody>
          <a:bodyPr wrap="square" lIns="9144" rIns="9144" tIns="9144" bIns="9144" anchor="ctr">
            <a:spAutoFit/>
          </a:bodyPr>
          <a:lstStyle/>
          <a:p>
            <a:pPr algn="l">
              <a:spcAft>
                <a:spcPts val="0"/>
              </a:spcAft>
            </a:pPr>
            <a:r>
              <a:rPr sz="850" b="0">
                <a:solidFill>
                  <a:srgbClr val="17233B"/>
                </a:solidFill>
                <a:latin typeface="Aptos"/>
              </a:rPr>
              <a:t>Supabase sign-in / data</a:t>
            </a:r>
          </a:p>
        </p:txBody>
      </p:sp>
      <p:sp>
        <p:nvSpPr>
          <p:cNvPr id="34" name="Rounded Rectangle 33"/>
          <p:cNvSpPr/>
          <p:nvPr/>
        </p:nvSpPr>
        <p:spPr>
          <a:xfrm>
            <a:off x="3794760" y="3227832"/>
            <a:ext cx="297180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877056" y="3259836"/>
            <a:ext cx="2807208" cy="393192"/>
          </a:xfrm>
          <a:prstGeom prst="rect">
            <a:avLst/>
          </a:prstGeom>
          <a:noFill/>
        </p:spPr>
        <p:txBody>
          <a:bodyPr wrap="square" lIns="9144" rIns="9144" tIns="9144" bIns="9144" anchor="ctr">
            <a:spAutoFit/>
          </a:bodyPr>
          <a:lstStyle/>
          <a:p>
            <a:pPr algn="l">
              <a:spcAft>
                <a:spcPts val="0"/>
              </a:spcAft>
            </a:pPr>
            <a:r>
              <a:rPr sz="800" b="0">
                <a:solidFill>
                  <a:srgbClr val="17233B"/>
                </a:solidFill>
                <a:latin typeface="Aptos"/>
              </a:rPr>
              <a:t>Authenticated response</a:t>
            </a:r>
          </a:p>
        </p:txBody>
      </p:sp>
      <p:sp>
        <p:nvSpPr>
          <p:cNvPr id="36" name="Rounded Rectangle 35"/>
          <p:cNvSpPr/>
          <p:nvPr/>
        </p:nvSpPr>
        <p:spPr>
          <a:xfrm>
            <a:off x="6858000" y="3227832"/>
            <a:ext cx="251460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0296" y="3259836"/>
            <a:ext cx="2350008" cy="393192"/>
          </a:xfrm>
          <a:prstGeom prst="rect">
            <a:avLst/>
          </a:prstGeom>
          <a:noFill/>
        </p:spPr>
        <p:txBody>
          <a:bodyPr wrap="square" lIns="9144" rIns="9144" tIns="9144" bIns="9144" anchor="ctr">
            <a:spAutoFit/>
          </a:bodyPr>
          <a:lstStyle/>
          <a:p>
            <a:pPr algn="l">
              <a:spcAft>
                <a:spcPts val="0"/>
              </a:spcAft>
            </a:pPr>
            <a:r>
              <a:rPr sz="800" b="0">
                <a:solidFill>
                  <a:srgbClr val="17233B"/>
                </a:solidFill>
                <a:latin typeface="Aptos"/>
              </a:rPr>
              <a:t>Not tested: no verified test account / live DB check</a:t>
            </a:r>
          </a:p>
        </p:txBody>
      </p:sp>
      <p:sp>
        <p:nvSpPr>
          <p:cNvPr id="38" name="Rounded Rectangle 37"/>
          <p:cNvSpPr/>
          <p:nvPr/>
        </p:nvSpPr>
        <p:spPr>
          <a:xfrm>
            <a:off x="9464040" y="3227832"/>
            <a:ext cx="1965960" cy="45720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46336" y="3259836"/>
            <a:ext cx="1801368" cy="393192"/>
          </a:xfrm>
          <a:prstGeom prst="rect">
            <a:avLst/>
          </a:prstGeom>
          <a:noFill/>
        </p:spPr>
        <p:txBody>
          <a:bodyPr wrap="square" lIns="9144" rIns="9144" tIns="9144" bIns="9144" anchor="ctr">
            <a:spAutoFit/>
          </a:bodyPr>
          <a:lstStyle/>
          <a:p>
            <a:pPr algn="ctr">
              <a:spcAft>
                <a:spcPts val="0"/>
              </a:spcAft>
            </a:pPr>
            <a:r>
              <a:rPr sz="850" b="1">
                <a:solidFill>
                  <a:srgbClr val="785715"/>
                </a:solidFill>
                <a:latin typeface="Aptos"/>
              </a:rPr>
              <a:t>NOT TESTED</a:t>
            </a:r>
          </a:p>
        </p:txBody>
      </p:sp>
      <p:sp>
        <p:nvSpPr>
          <p:cNvPr id="40" name="Rounded Rectangle 39"/>
          <p:cNvSpPr/>
          <p:nvPr/>
        </p:nvSpPr>
        <p:spPr>
          <a:xfrm>
            <a:off x="658368" y="3941063"/>
            <a:ext cx="5266944" cy="150876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58368" y="3941063"/>
            <a:ext cx="41148" cy="1508760"/>
          </a:xfrm>
          <a:prstGeom prst="rect">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41247" y="4096511"/>
            <a:ext cx="4919472" cy="320040"/>
          </a:xfrm>
          <a:prstGeom prst="rect">
            <a:avLst/>
          </a:prstGeom>
          <a:noFill/>
        </p:spPr>
        <p:txBody>
          <a:bodyPr wrap="square" lIns="9144" rIns="9144" tIns="9144" bIns="9144" anchor="t">
            <a:spAutoFit/>
          </a:bodyPr>
          <a:lstStyle/>
          <a:p>
            <a:pPr algn="l">
              <a:spcAft>
                <a:spcPts val="0"/>
              </a:spcAft>
            </a:pPr>
            <a:r>
              <a:rPr sz="1300" b="1">
                <a:solidFill>
                  <a:srgbClr val="17233B"/>
                </a:solidFill>
                <a:latin typeface="Aptos"/>
              </a:rPr>
              <a:t>Project benefits</a:t>
            </a:r>
          </a:p>
        </p:txBody>
      </p:sp>
      <p:sp>
        <p:nvSpPr>
          <p:cNvPr id="43" name="TextBox 42"/>
          <p:cNvSpPr txBox="1"/>
          <p:nvPr/>
        </p:nvSpPr>
        <p:spPr>
          <a:xfrm>
            <a:off x="841247" y="4471416"/>
            <a:ext cx="4919472" cy="886967"/>
          </a:xfrm>
          <a:prstGeom prst="rect">
            <a:avLst/>
          </a:prstGeom>
          <a:noFill/>
        </p:spPr>
        <p:txBody>
          <a:bodyPr wrap="square" lIns="9144" rIns="9144" tIns="9144" bIns="9144" anchor="t">
            <a:spAutoFit/>
          </a:bodyPr>
          <a:lstStyle/>
          <a:p>
            <a:pPr algn="l">
              <a:spcAft>
                <a:spcPts val="0"/>
              </a:spcAft>
            </a:pPr>
            <a:r>
              <a:rPr sz="900" b="0">
                <a:solidFill>
                  <a:srgbClr val="68758D"/>
                </a:solidFill>
                <a:latin typeface="Aptos"/>
              </a:rPr>
              <a:t>Career, learning and placement pages are grouped together. Responsive styling is included. Resume text analysis runs in the browser.</a:t>
            </a:r>
          </a:p>
        </p:txBody>
      </p:sp>
      <p:sp>
        <p:nvSpPr>
          <p:cNvPr id="44" name="Rounded Rectangle 43"/>
          <p:cNvSpPr/>
          <p:nvPr/>
        </p:nvSpPr>
        <p:spPr>
          <a:xfrm>
            <a:off x="6199632" y="3941063"/>
            <a:ext cx="5266944" cy="1508760"/>
          </a:xfrm>
          <a:prstGeom prst="roundRect">
            <a:avLst>
              <a:gd name="adj" fmla="val 12000"/>
            </a:avLst>
          </a:prstGeom>
          <a:solidFill>
            <a:srgbClr val="FFFFFF"/>
          </a:solidFill>
          <a:ln w="12700">
            <a:solidFill>
              <a:srgbClr val="E0E7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199632" y="3941063"/>
            <a:ext cx="41148" cy="1508760"/>
          </a:xfrm>
          <a:prstGeom prst="rect">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82512" y="4096511"/>
            <a:ext cx="4919472" cy="320040"/>
          </a:xfrm>
          <a:prstGeom prst="rect">
            <a:avLst/>
          </a:prstGeom>
          <a:noFill/>
        </p:spPr>
        <p:txBody>
          <a:bodyPr wrap="square" lIns="9144" rIns="9144" tIns="9144" bIns="9144" anchor="t">
            <a:spAutoFit/>
          </a:bodyPr>
          <a:lstStyle/>
          <a:p>
            <a:pPr algn="l">
              <a:spcAft>
                <a:spcPts val="0"/>
              </a:spcAft>
            </a:pPr>
            <a:r>
              <a:rPr sz="1300" b="1">
                <a:solidFill>
                  <a:srgbClr val="17233B"/>
                </a:solidFill>
                <a:latin typeface="Aptos"/>
              </a:rPr>
              <a:t>Limitations</a:t>
            </a:r>
          </a:p>
        </p:txBody>
      </p:sp>
      <p:sp>
        <p:nvSpPr>
          <p:cNvPr id="47" name="TextBox 46"/>
          <p:cNvSpPr txBox="1"/>
          <p:nvPr/>
        </p:nvSpPr>
        <p:spPr>
          <a:xfrm>
            <a:off x="6382512" y="4471416"/>
            <a:ext cx="4919472" cy="886967"/>
          </a:xfrm>
          <a:prstGeom prst="rect">
            <a:avLst/>
          </a:prstGeom>
          <a:noFill/>
        </p:spPr>
        <p:txBody>
          <a:bodyPr wrap="square" lIns="9144" rIns="9144" tIns="9144" bIns="9144" anchor="t">
            <a:spAutoFit/>
          </a:bodyPr>
          <a:lstStyle/>
          <a:p>
            <a:pPr algn="l">
              <a:spcAft>
                <a:spcPts val="0"/>
              </a:spcAft>
            </a:pPr>
            <a:r>
              <a:rPr sz="900" b="0">
                <a:solidFill>
                  <a:srgbClr val="68758D"/>
                </a:solidFill>
                <a:latin typeface="Aptos"/>
              </a:rPr>
              <a:t>Some screens show static sample content. Live Supabase workflows need setup and end-to-end tests. No accessibility metrics are claimed.</a:t>
            </a:r>
          </a:p>
        </p:txBody>
      </p:sp>
      <p:sp>
        <p:nvSpPr>
          <p:cNvPr id="48" name="TextBox 47"/>
          <p:cNvSpPr txBox="1"/>
          <p:nvPr/>
        </p:nvSpPr>
        <p:spPr>
          <a:xfrm>
            <a:off x="731520" y="5769864"/>
            <a:ext cx="10698480" cy="292608"/>
          </a:xfrm>
          <a:prstGeom prst="rect">
            <a:avLst/>
          </a:prstGeom>
          <a:noFill/>
        </p:spPr>
        <p:txBody>
          <a:bodyPr wrap="square" lIns="9144" rIns="9144" tIns="9144" bIns="9144" anchor="t">
            <a:spAutoFit/>
          </a:bodyPr>
          <a:lstStyle/>
          <a:p>
            <a:pPr algn="ctr">
              <a:spcAft>
                <a:spcPts val="0"/>
              </a:spcAft>
            </a:pPr>
            <a:r>
              <a:rPr sz="850" b="0">
                <a:solidFill>
                  <a:srgbClr val="68758D"/>
                </a:solidFill>
                <a:latin typeface="Aptos"/>
              </a:rPr>
              <a:t>Verified here: six routes returned HTTP 200; three pages were captured. Backend functionality remains unverified.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01B35"/>
        </a:solidFill>
        <a:effectLst/>
      </p:bgPr>
    </p:bg>
    <p:spTree>
      <p:nvGrpSpPr>
        <p:cNvPr id="1" name=""/>
        <p:cNvGrpSpPr/>
        <p:nvPr/>
      </p:nvGrpSpPr>
      <p:grpSpPr/>
      <p:sp>
        <p:nvSpPr>
          <p:cNvPr id="2" name="TextBox 1"/>
          <p:cNvSpPr txBox="1"/>
          <p:nvPr/>
        </p:nvSpPr>
        <p:spPr>
          <a:xfrm>
            <a:off x="713232" y="493776"/>
            <a:ext cx="3657600" cy="210312"/>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CONCLUSION</a:t>
            </a:r>
          </a:p>
        </p:txBody>
      </p:sp>
      <p:sp>
        <p:nvSpPr>
          <p:cNvPr id="3" name="TextBox 2"/>
          <p:cNvSpPr txBox="1"/>
          <p:nvPr/>
        </p:nvSpPr>
        <p:spPr>
          <a:xfrm>
            <a:off x="713232" y="914400"/>
            <a:ext cx="8138160" cy="1097280"/>
          </a:xfrm>
          <a:prstGeom prst="rect">
            <a:avLst/>
          </a:prstGeom>
          <a:noFill/>
        </p:spPr>
        <p:txBody>
          <a:bodyPr wrap="square" lIns="9144" rIns="9144" tIns="9144" bIns="9144" anchor="t">
            <a:spAutoFit/>
          </a:bodyPr>
          <a:lstStyle/>
          <a:p>
            <a:pPr algn="l">
              <a:spcAft>
                <a:spcPts val="0"/>
              </a:spcAft>
            </a:pPr>
            <a:r>
              <a:rPr sz="2900" b="1">
                <a:solidFill>
                  <a:srgbClr val="FFFFFF"/>
                </a:solidFill>
                <a:latin typeface="Aptos"/>
              </a:rPr>
              <a:t>One platform. A more connected
student career journey.</a:t>
            </a:r>
          </a:p>
        </p:txBody>
      </p:sp>
      <p:sp>
        <p:nvSpPr>
          <p:cNvPr id="4" name="TextBox 3"/>
          <p:cNvSpPr txBox="1"/>
          <p:nvPr/>
        </p:nvSpPr>
        <p:spPr>
          <a:xfrm>
            <a:off x="749808" y="2267712"/>
            <a:ext cx="7680960" cy="676656"/>
          </a:xfrm>
          <a:prstGeom prst="rect">
            <a:avLst/>
          </a:prstGeom>
          <a:noFill/>
        </p:spPr>
        <p:txBody>
          <a:bodyPr wrap="square" lIns="9144" rIns="9144" tIns="9144" bIns="9144" anchor="t">
            <a:spAutoFit/>
          </a:bodyPr>
          <a:lstStyle/>
          <a:p>
            <a:pPr algn="l">
              <a:spcAft>
                <a:spcPts val="0"/>
              </a:spcAft>
            </a:pPr>
            <a:r>
              <a:rPr sz="1400" b="0">
                <a:solidFill>
                  <a:srgbClr val="D5DEEC"/>
                </a:solidFill>
                <a:latin typeface="Aptos"/>
              </a:rPr>
              <a:t>CareerNify brings career exploration, skill development, preparation and placement pages together in a single web application.</a:t>
            </a:r>
          </a:p>
        </p:txBody>
      </p:sp>
      <p:sp>
        <p:nvSpPr>
          <p:cNvPr id="5" name="Rounded Rectangle 4"/>
          <p:cNvSpPr/>
          <p:nvPr/>
        </p:nvSpPr>
        <p:spPr>
          <a:xfrm>
            <a:off x="8869680" y="1033271"/>
            <a:ext cx="2468880" cy="1874519"/>
          </a:xfrm>
          <a:prstGeom prst="roundRect">
            <a:avLst>
              <a:gd name="adj" fmla="val 12000"/>
            </a:avLst>
          </a:prstGeom>
          <a:solidFill>
            <a:srgbClr val="1B2B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582912" y="1417320"/>
            <a:ext cx="1005840" cy="1005840"/>
          </a:xfrm>
          <a:prstGeom prst="ellipse">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582912" y="1417320"/>
            <a:ext cx="1005840" cy="1005840"/>
          </a:xfrm>
          <a:prstGeom prst="rect">
            <a:avLst/>
          </a:prstGeom>
          <a:noFill/>
        </p:spPr>
        <p:txBody>
          <a:bodyPr wrap="square" lIns="9144" rIns="9144" tIns="9144" bIns="9144" anchor="ctr">
            <a:spAutoFit/>
          </a:bodyPr>
          <a:lstStyle/>
          <a:p>
            <a:pPr algn="ctr">
              <a:spcAft>
                <a:spcPts val="0"/>
              </a:spcAft>
            </a:pPr>
            <a:r>
              <a:rPr sz="3200" b="1">
                <a:solidFill>
                  <a:srgbClr val="101B35"/>
                </a:solidFill>
                <a:latin typeface="Aptos"/>
              </a:rPr>
              <a:t>C</a:t>
            </a:r>
          </a:p>
        </p:txBody>
      </p:sp>
      <p:sp>
        <p:nvSpPr>
          <p:cNvPr id="8" name="TextBox 7"/>
          <p:cNvSpPr txBox="1"/>
          <p:nvPr/>
        </p:nvSpPr>
        <p:spPr>
          <a:xfrm>
            <a:off x="9107424" y="2560320"/>
            <a:ext cx="1993392" cy="201168"/>
          </a:xfrm>
          <a:prstGeom prst="rect">
            <a:avLst/>
          </a:prstGeom>
          <a:noFill/>
        </p:spPr>
        <p:txBody>
          <a:bodyPr wrap="square" lIns="9144" rIns="9144" tIns="9144" bIns="9144" anchor="t">
            <a:spAutoFit/>
          </a:bodyPr>
          <a:lstStyle/>
          <a:p>
            <a:pPr algn="ctr">
              <a:spcAft>
                <a:spcPts val="0"/>
              </a:spcAft>
            </a:pPr>
            <a:r>
              <a:rPr sz="900" b="1">
                <a:solidFill>
                  <a:srgbClr val="D5DEEC"/>
                </a:solidFill>
                <a:latin typeface="Aptos"/>
              </a:rPr>
              <a:t>CAREERNIFY</a:t>
            </a:r>
          </a:p>
        </p:txBody>
      </p:sp>
      <p:sp>
        <p:nvSpPr>
          <p:cNvPr id="9" name="TextBox 8"/>
          <p:cNvSpPr txBox="1"/>
          <p:nvPr/>
        </p:nvSpPr>
        <p:spPr>
          <a:xfrm>
            <a:off x="749808" y="3291840"/>
            <a:ext cx="3657600" cy="201168"/>
          </a:xfrm>
          <a:prstGeom prst="rect">
            <a:avLst/>
          </a:prstGeom>
          <a:noFill/>
        </p:spPr>
        <p:txBody>
          <a:bodyPr wrap="square" lIns="9144" rIns="9144" tIns="9144" bIns="9144" anchor="t">
            <a:spAutoFit/>
          </a:bodyPr>
          <a:lstStyle/>
          <a:p>
            <a:pPr algn="l">
              <a:spcAft>
                <a:spcPts val="0"/>
              </a:spcAft>
            </a:pPr>
            <a:r>
              <a:rPr sz="900" b="1">
                <a:solidFill>
                  <a:srgbClr val="26C6B2"/>
                </a:solidFill>
                <a:latin typeface="Aptos"/>
              </a:rPr>
              <a:t>FUTURE ENHANCEMENTS</a:t>
            </a:r>
          </a:p>
        </p:txBody>
      </p:sp>
      <p:sp>
        <p:nvSpPr>
          <p:cNvPr id="10" name="Oval 9"/>
          <p:cNvSpPr/>
          <p:nvPr/>
        </p:nvSpPr>
        <p:spPr>
          <a:xfrm>
            <a:off x="777240" y="3675887"/>
            <a:ext cx="310896" cy="310896"/>
          </a:xfrm>
          <a:prstGeom prst="ellipse">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675887"/>
            <a:ext cx="310896" cy="310896"/>
          </a:xfrm>
          <a:prstGeom prst="rect">
            <a:avLst/>
          </a:prstGeom>
          <a:noFill/>
        </p:spPr>
        <p:txBody>
          <a:bodyPr wrap="square" lIns="9144" rIns="9144" tIns="9144" bIns="9144" anchor="ctr">
            <a:spAutoFit/>
          </a:bodyPr>
          <a:lstStyle/>
          <a:p>
            <a:pPr algn="ctr">
              <a:spcAft>
                <a:spcPts val="0"/>
              </a:spcAft>
            </a:pPr>
            <a:r>
              <a:rPr sz="800" b="1">
                <a:solidFill>
                  <a:srgbClr val="101B35"/>
                </a:solidFill>
                <a:latin typeface="Aptos"/>
              </a:rPr>
              <a:t>1</a:t>
            </a:r>
          </a:p>
        </p:txBody>
      </p:sp>
      <p:sp>
        <p:nvSpPr>
          <p:cNvPr id="12" name="TextBox 11"/>
          <p:cNvSpPr txBox="1"/>
          <p:nvPr/>
        </p:nvSpPr>
        <p:spPr>
          <a:xfrm>
            <a:off x="1280160" y="3666744"/>
            <a:ext cx="1234440" cy="237744"/>
          </a:xfrm>
          <a:prstGeom prst="rect">
            <a:avLst/>
          </a:prstGeom>
          <a:noFill/>
        </p:spPr>
        <p:txBody>
          <a:bodyPr wrap="square" lIns="9144" rIns="9144" tIns="9144" bIns="9144" anchor="t">
            <a:spAutoFit/>
          </a:bodyPr>
          <a:lstStyle/>
          <a:p>
            <a:pPr algn="l">
              <a:spcAft>
                <a:spcPts val="0"/>
              </a:spcAft>
            </a:pPr>
            <a:r>
              <a:rPr sz="1100" b="1">
                <a:solidFill>
                  <a:srgbClr val="FFFFFF"/>
                </a:solidFill>
                <a:latin typeface="Aptos"/>
              </a:rPr>
              <a:t>Validate</a:t>
            </a:r>
          </a:p>
        </p:txBody>
      </p:sp>
      <p:sp>
        <p:nvSpPr>
          <p:cNvPr id="13" name="TextBox 12"/>
          <p:cNvSpPr txBox="1"/>
          <p:nvPr/>
        </p:nvSpPr>
        <p:spPr>
          <a:xfrm>
            <a:off x="2514600" y="3666744"/>
            <a:ext cx="7040880" cy="365760"/>
          </a:xfrm>
          <a:prstGeom prst="rect">
            <a:avLst/>
          </a:prstGeom>
          <a:noFill/>
        </p:spPr>
        <p:txBody>
          <a:bodyPr wrap="square" lIns="9144" rIns="9144" tIns="9144" bIns="9144" anchor="t">
            <a:spAutoFit/>
          </a:bodyPr>
          <a:lstStyle/>
          <a:p>
            <a:pPr algn="l">
              <a:spcAft>
                <a:spcPts val="0"/>
              </a:spcAft>
            </a:pPr>
            <a:r>
              <a:rPr sz="900" b="0">
                <a:solidFill>
                  <a:srgbClr val="C8D5E7"/>
                </a:solidFill>
                <a:latin typeface="Aptos"/>
              </a:rPr>
              <a:t>Configure Supabase and run end-to-end auth / data tests.</a:t>
            </a:r>
          </a:p>
        </p:txBody>
      </p:sp>
      <p:sp>
        <p:nvSpPr>
          <p:cNvPr id="14" name="Oval 13"/>
          <p:cNvSpPr/>
          <p:nvPr/>
        </p:nvSpPr>
        <p:spPr>
          <a:xfrm>
            <a:off x="777240" y="4251959"/>
            <a:ext cx="310896" cy="310896"/>
          </a:xfrm>
          <a:prstGeom prst="ellipse">
            <a:avLst/>
          </a:prstGeom>
          <a:solidFill>
            <a:srgbClr val="527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251959"/>
            <a:ext cx="310896" cy="310896"/>
          </a:xfrm>
          <a:prstGeom prst="rect">
            <a:avLst/>
          </a:prstGeom>
          <a:noFill/>
        </p:spPr>
        <p:txBody>
          <a:bodyPr wrap="square" lIns="9144" rIns="9144" tIns="9144" bIns="9144" anchor="ctr">
            <a:spAutoFit/>
          </a:bodyPr>
          <a:lstStyle/>
          <a:p>
            <a:pPr algn="ctr">
              <a:spcAft>
                <a:spcPts val="0"/>
              </a:spcAft>
            </a:pPr>
            <a:r>
              <a:rPr sz="800" b="1">
                <a:solidFill>
                  <a:srgbClr val="101B35"/>
                </a:solidFill>
                <a:latin typeface="Aptos"/>
              </a:rPr>
              <a:t>2</a:t>
            </a:r>
          </a:p>
        </p:txBody>
      </p:sp>
      <p:sp>
        <p:nvSpPr>
          <p:cNvPr id="16" name="TextBox 15"/>
          <p:cNvSpPr txBox="1"/>
          <p:nvPr/>
        </p:nvSpPr>
        <p:spPr>
          <a:xfrm>
            <a:off x="1280160" y="4242816"/>
            <a:ext cx="1234440" cy="237744"/>
          </a:xfrm>
          <a:prstGeom prst="rect">
            <a:avLst/>
          </a:prstGeom>
          <a:noFill/>
        </p:spPr>
        <p:txBody>
          <a:bodyPr wrap="square" lIns="9144" rIns="9144" tIns="9144" bIns="9144" anchor="t">
            <a:spAutoFit/>
          </a:bodyPr>
          <a:lstStyle/>
          <a:p>
            <a:pPr algn="l">
              <a:spcAft>
                <a:spcPts val="0"/>
              </a:spcAft>
            </a:pPr>
            <a:r>
              <a:rPr sz="1100" b="1">
                <a:solidFill>
                  <a:srgbClr val="FFFFFF"/>
                </a:solidFill>
                <a:latin typeface="Aptos"/>
              </a:rPr>
              <a:t>Improve</a:t>
            </a:r>
          </a:p>
        </p:txBody>
      </p:sp>
      <p:sp>
        <p:nvSpPr>
          <p:cNvPr id="17" name="TextBox 16"/>
          <p:cNvSpPr txBox="1"/>
          <p:nvPr/>
        </p:nvSpPr>
        <p:spPr>
          <a:xfrm>
            <a:off x="2514600" y="4242816"/>
            <a:ext cx="7040880" cy="365760"/>
          </a:xfrm>
          <a:prstGeom prst="rect">
            <a:avLst/>
          </a:prstGeom>
          <a:noFill/>
        </p:spPr>
        <p:txBody>
          <a:bodyPr wrap="square" lIns="9144" rIns="9144" tIns="9144" bIns="9144" anchor="t">
            <a:spAutoFit/>
          </a:bodyPr>
          <a:lstStyle/>
          <a:p>
            <a:pPr algn="l">
              <a:spcAft>
                <a:spcPts val="0"/>
              </a:spcAft>
            </a:pPr>
            <a:r>
              <a:rPr sz="900" b="0">
                <a:solidFill>
                  <a:srgbClr val="C8D5E7"/>
                </a:solidFill>
                <a:latin typeface="Aptos"/>
              </a:rPr>
              <a:t>Refine sample-to-live data flows and verify role-based screens.</a:t>
            </a:r>
          </a:p>
        </p:txBody>
      </p:sp>
      <p:sp>
        <p:nvSpPr>
          <p:cNvPr id="18" name="Oval 17"/>
          <p:cNvSpPr/>
          <p:nvPr/>
        </p:nvSpPr>
        <p:spPr>
          <a:xfrm>
            <a:off x="777240" y="4828031"/>
            <a:ext cx="310896" cy="310896"/>
          </a:xfrm>
          <a:prstGeom prst="ellipse">
            <a:avLst/>
          </a:prstGeom>
          <a:solidFill>
            <a:srgbClr val="F4B9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77240" y="4828031"/>
            <a:ext cx="310896" cy="310896"/>
          </a:xfrm>
          <a:prstGeom prst="rect">
            <a:avLst/>
          </a:prstGeom>
          <a:noFill/>
        </p:spPr>
        <p:txBody>
          <a:bodyPr wrap="square" lIns="9144" rIns="9144" tIns="9144" bIns="9144" anchor="ctr">
            <a:spAutoFit/>
          </a:bodyPr>
          <a:lstStyle/>
          <a:p>
            <a:pPr algn="ctr">
              <a:spcAft>
                <a:spcPts val="0"/>
              </a:spcAft>
            </a:pPr>
            <a:r>
              <a:rPr sz="800" b="1">
                <a:solidFill>
                  <a:srgbClr val="101B35"/>
                </a:solidFill>
                <a:latin typeface="Aptos"/>
              </a:rPr>
              <a:t>3</a:t>
            </a:r>
          </a:p>
        </p:txBody>
      </p:sp>
      <p:sp>
        <p:nvSpPr>
          <p:cNvPr id="20" name="TextBox 19"/>
          <p:cNvSpPr txBox="1"/>
          <p:nvPr/>
        </p:nvSpPr>
        <p:spPr>
          <a:xfrm>
            <a:off x="1280160" y="4818888"/>
            <a:ext cx="1234440" cy="237744"/>
          </a:xfrm>
          <a:prstGeom prst="rect">
            <a:avLst/>
          </a:prstGeom>
          <a:noFill/>
        </p:spPr>
        <p:txBody>
          <a:bodyPr wrap="square" lIns="9144" rIns="9144" tIns="9144" bIns="9144" anchor="t">
            <a:spAutoFit/>
          </a:bodyPr>
          <a:lstStyle/>
          <a:p>
            <a:pPr algn="l">
              <a:spcAft>
                <a:spcPts val="0"/>
              </a:spcAft>
            </a:pPr>
            <a:r>
              <a:rPr sz="1100" b="1">
                <a:solidFill>
                  <a:srgbClr val="FFFFFF"/>
                </a:solidFill>
                <a:latin typeface="Aptos"/>
              </a:rPr>
              <a:t>Evaluate</a:t>
            </a:r>
          </a:p>
        </p:txBody>
      </p:sp>
      <p:sp>
        <p:nvSpPr>
          <p:cNvPr id="21" name="TextBox 20"/>
          <p:cNvSpPr txBox="1"/>
          <p:nvPr/>
        </p:nvSpPr>
        <p:spPr>
          <a:xfrm>
            <a:off x="2514600" y="4818888"/>
            <a:ext cx="7040880" cy="365760"/>
          </a:xfrm>
          <a:prstGeom prst="rect">
            <a:avLst/>
          </a:prstGeom>
          <a:noFill/>
        </p:spPr>
        <p:txBody>
          <a:bodyPr wrap="square" lIns="9144" rIns="9144" tIns="9144" bIns="9144" anchor="t">
            <a:spAutoFit/>
          </a:bodyPr>
          <a:lstStyle/>
          <a:p>
            <a:pPr algn="l">
              <a:spcAft>
                <a:spcPts val="0"/>
              </a:spcAft>
            </a:pPr>
            <a:r>
              <a:rPr sz="900" b="0">
                <a:solidFill>
                  <a:srgbClr val="C8D5E7"/>
                </a:solidFill>
                <a:latin typeface="Aptos"/>
              </a:rPr>
              <a:t>Run student usability and accessibility checks; iterate from feedback.</a:t>
            </a:r>
          </a:p>
        </p:txBody>
      </p:sp>
      <p:sp>
        <p:nvSpPr>
          <p:cNvPr id="22" name="Rounded Rectangle 21"/>
          <p:cNvSpPr/>
          <p:nvPr/>
        </p:nvSpPr>
        <p:spPr>
          <a:xfrm>
            <a:off x="749808" y="5623560"/>
            <a:ext cx="10652760" cy="530352"/>
          </a:xfrm>
          <a:prstGeom prst="roundRect">
            <a:avLst>
              <a:gd name="adj" fmla="val 12000"/>
            </a:avLst>
          </a:prstGeom>
          <a:solidFill>
            <a:srgbClr val="26C6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96112" y="5623560"/>
            <a:ext cx="10332720" cy="530352"/>
          </a:xfrm>
          <a:prstGeom prst="rect">
            <a:avLst/>
          </a:prstGeom>
          <a:noFill/>
        </p:spPr>
        <p:txBody>
          <a:bodyPr wrap="square" lIns="9144" rIns="9144" tIns="9144" bIns="9144" anchor="ctr">
            <a:spAutoFit/>
          </a:bodyPr>
          <a:lstStyle/>
          <a:p>
            <a:pPr algn="ctr">
              <a:spcAft>
                <a:spcPts val="0"/>
              </a:spcAft>
            </a:pPr>
            <a:r>
              <a:rPr sz="1300" b="1">
                <a:solidFill>
                  <a:srgbClr val="101B35"/>
                </a:solidFill>
                <a:latin typeface="Aptos"/>
              </a:rPr>
              <a:t>THANK YOU  |  QUESTIONS &amp; ANSWERS</a:t>
            </a:r>
          </a:p>
        </p:txBody>
      </p:sp>
      <p:sp>
        <p:nvSpPr>
          <p:cNvPr id="24" name="TextBox 23"/>
          <p:cNvSpPr txBox="1"/>
          <p:nvPr/>
        </p:nvSpPr>
        <p:spPr>
          <a:xfrm>
            <a:off x="10680192" y="6528816"/>
            <a:ext cx="932688" cy="164592"/>
          </a:xfrm>
          <a:prstGeom prst="rect">
            <a:avLst/>
          </a:prstGeom>
          <a:noFill/>
        </p:spPr>
        <p:txBody>
          <a:bodyPr wrap="square" lIns="9144" rIns="9144" tIns="9144" bIns="9144" anchor="t">
            <a:spAutoFit/>
          </a:bodyPr>
          <a:lstStyle/>
          <a:p>
            <a:pPr algn="r">
              <a:spcAft>
                <a:spcPts val="0"/>
              </a:spcAft>
            </a:pPr>
            <a:r>
              <a:rPr sz="800" b="1">
                <a:solidFill>
                  <a:srgbClr val="BFCBE0"/>
                </a:solidFill>
                <a:latin typeface="Aptos"/>
              </a:rPr>
              <a:t>09 / 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CareerNify | College Project Presentation</dc:title>
  <dc:subject>Project review: motive, implementation, actual output, technologies and testing</dc:subject>
  <dc:creator>[Student Name]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